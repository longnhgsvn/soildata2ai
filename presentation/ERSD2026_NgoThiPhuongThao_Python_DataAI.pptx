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75" d="100"/>
          <a:sy n="75" d="100"/>
        </p:scale>
        <p:origin x="970" y="38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quý thầy cô và các đại biểu. Tôi là Ngô Thị Phương Thảo, Trường Đại học Mỏ – Địa chất. Báo cáo trình bày quy trình dùng Python để chuyển dữ liệu chỉ tiêu cơ lý đất từ bảng tính lịch sử sang CSV UTF-8, phục vụ chuẩn bị dữ liệu huấn luyện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gồm bốn phần: đặt vấn đề, phương pháp, kết quả và kết luận. Trọng tâm là quy trình xử lý batch và bước chuyển mã TCVN3 sang Unicode.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khó khăn chính: dữ liệu phân tán trong nhiều workbook; lỗi bảng mã TCVN3; và cấu trúc bảng không đồng nhất. Mục tiêu là tự động hóa để giảm thao tác thủ công và bảo đảm tái lập.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mục tiêu tương ứng bốn chặng của pipeline: quét dữ liệu, chuẩn hóa tiếng Việt, xuất CSV và kiểm soát chất lượng. Kết quả kỳ vọng là công cụ tái sử dụng được cho các bộ hồ sơ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dữ liệu gồm 166 tệp, chủ yếu là .xlsx và một số .xls cũ. Sau khi tách sheet và loại sheet rỗng, còn 963 sheet có dữ liệu, tương ứng 20.532 mẫu.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TCVN3 dùng bộ ký tự riêng, không tương thích trực tiếp với Unicode. Bảng ánh xạ VietKey gồm cả cụm hai ký tự; thứ tự thay thế phải được kiểm chứng thực tế để tránh chồng lấn.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pháp được tổ chức thành bốn bước. Điểm cần nhấn: quy trình chạy batch, có thể bổ sung hồ sơ mới mà không sửa mã, và có bước kiểm chứng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gồm sáu bước. Đầu vào 166 tệp, qua xử lý còn 963 sheet có dữ liệu, kết quả là 20.532 mẫu CSV UTF-8. Ba nguyên tắc thiết kế: chạy batch, tái lập và có log lỗi.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workbook có số sheet và vùng bảng khác nhau. Chương trình kiểm tra phạm vi ô, nhận diện font TCVN3 và loại sheet rỗng. Tệp hỏng hoặc có mật khẩu được ghi log để xử lý thủ công.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Chương trình có một điểm vào main, nhận hai tham số input/output. Với .xlsx dùng openpyxl; với .xls dùng xlrd 1.2.0 để đọc được font. Đầu ra CSV dùng utf-8-sig để Excel nhận đúng tiếng Việt.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Thuật toán dùng hai pha: trước hết thay chuỗi nguồn bằng placeholder, sau đó thay placeholder bằng Unicode. Cách này tránh việc một ký tự vừa được thay đã bị ánh xạ tiếp. Điều kiện áp dụng là font TCVN3 hoặc chuỗi có marker đặc trưng.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sheet có dữ liệu được xuất thành một CSV, tên gồm tên file gốc và tên sheet. Sheet rỗng bị bỏ qua. File ghi bằng utf-8-sig để Excel mở đúng tiếng Việt, đồng thời giữ nguyên cấu trúc lưới của sheet nguồn.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chứng gồm bốn nội dung: đếm số CSV, đối chiếu chuỗi tiếng Việt, xử lý lỗi và khả năng tái lập. Trên bộ dữ liệu thử nghiệm, 166/166 tệp xử lý thành công, không có tệp lỗi.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định lượng: 166/166 tệp thành công, 963 sheet có dữ liệu và 20.532 mẫu hợp lệ. Đây là quy mô đủ lớn để bước đầu huấn luyện mô hình. Lưu ý dữ liệu hiện chưa gồm tọa độ công trình.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định tính được kiểm tra bằng cách đối chiếu ngẫu nhiên. Các cụm như báo cáo kết quả, công trình, độ ẩm tự nhiên, góc ma sát trong đều hiển thị đúng Unicode. CSV giữ cấu trúc lưới gần với sheet gốc.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Ưu điểm lớn nhất là tự động hóa và thống nhất UTF-8. Hạn chế là chưa có schema cột thống nhất, chưa kiểm tra đơn vị/ngoại lệ số và chưa huấn luyện mô hình trong phạm vi bài này. Đây cũng là hướng phát triển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kết quả chính: pipeline ổn định, chuẩn hóa tiếng Việt và dữ liệu sẵn sàng cho AI. Thông điệp chính: dữ liệu lịch sử có thể trở thành tài sản AI nếu được chuẩn hóa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phát triển gồm bốn việc: xây schema chuẩn, kiểm soát chất lượng số, nối pipeline học máy và xuất báo cáo tự động. Ưu tiên trước mắt là schema và kiểm tra chất lượng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cảm ơn quý thầy cô và các đại biểu đã lắng nghe. Tôi sẵn sàng nhận câu hỏi và góp 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AD254-5711-623A-9C79-7EBACAC595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42EAAF-26B1-BE12-D1B8-C3FD2F786F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0DFAC3-CB58-5346-F735-196F2D67E19F}"/>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5" name="Footer Placeholder 4">
            <a:extLst>
              <a:ext uri="{FF2B5EF4-FFF2-40B4-BE49-F238E27FC236}">
                <a16:creationId xmlns:a16="http://schemas.microsoft.com/office/drawing/2014/main" id="{958F6B97-EB02-98A5-AF15-8F9296464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60C8D-DAFD-625C-4428-71136C95A05F}"/>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82946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9C11-E802-9FFD-4327-7ADA1F8986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7C1C20-D403-EFB1-4326-0B3FCF9D24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A6BA8-33E7-507A-AF86-05863C488714}"/>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5" name="Footer Placeholder 4">
            <a:extLst>
              <a:ext uri="{FF2B5EF4-FFF2-40B4-BE49-F238E27FC236}">
                <a16:creationId xmlns:a16="http://schemas.microsoft.com/office/drawing/2014/main" id="{3F044E14-EF27-D819-02D1-21B32F02F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AB041-7A2A-C77A-3D33-CFEEAD526C23}"/>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3768128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B96B7-F2EA-A7D9-56D6-583DA40C2A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D475F8-2930-28D7-995A-6BC5A41324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0C1CE2-E20D-C552-B3F1-F5FCF09F9DB2}"/>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5" name="Footer Placeholder 4">
            <a:extLst>
              <a:ext uri="{FF2B5EF4-FFF2-40B4-BE49-F238E27FC236}">
                <a16:creationId xmlns:a16="http://schemas.microsoft.com/office/drawing/2014/main" id="{3D20FB77-6C99-A6F5-A295-F4D071CDD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78516D-F70C-0626-BD04-B9E500BCB3CF}"/>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2538202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BD36-F28A-0CF2-6A91-0E56E30F97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3A6CB0-CF75-459C-BC1B-02384BC9C1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79E26F-CC93-A38D-1390-A4B9C0EE8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F77F28-43D5-ACDA-6B3D-D755609CE830}"/>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6" name="Footer Placeholder 5">
            <a:extLst>
              <a:ext uri="{FF2B5EF4-FFF2-40B4-BE49-F238E27FC236}">
                <a16:creationId xmlns:a16="http://schemas.microsoft.com/office/drawing/2014/main" id="{20DDE3B0-F920-3CFF-90F6-400CCD5902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B5531-73AD-C84F-EEC9-C7E440784EE8}"/>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465443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CC281-02CE-5903-8DEB-2CD1588F11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25843C-2FF8-E2B8-1BFF-6F37ECE483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52B4EC-DD50-AF2F-2E01-E48D5A066A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F1E65B-5E86-C274-6256-C9613D4C63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60B045-341E-8113-C2FE-AE6FDB7EB2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F705E3-3E74-440D-4D1A-208DA99CBCC3}"/>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8" name="Footer Placeholder 7">
            <a:extLst>
              <a:ext uri="{FF2B5EF4-FFF2-40B4-BE49-F238E27FC236}">
                <a16:creationId xmlns:a16="http://schemas.microsoft.com/office/drawing/2014/main" id="{F088A616-D836-1119-4A25-F339E02BCD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BA0250-38E2-751E-EDA7-569ECAF32815}"/>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2153125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F3BB-E6AB-C132-1194-E3F8022848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EF4F55-9AB8-ECE2-92BA-6B4C19CE723A}"/>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4" name="Footer Placeholder 3">
            <a:extLst>
              <a:ext uri="{FF2B5EF4-FFF2-40B4-BE49-F238E27FC236}">
                <a16:creationId xmlns:a16="http://schemas.microsoft.com/office/drawing/2014/main" id="{87FC4BF7-A05F-DAF6-E075-5E45A2A586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45DD64-8258-02FD-7768-3569FF35ED1F}"/>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50640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863C46-D120-1A58-3D1D-80110A57793D}"/>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3" name="Footer Placeholder 2">
            <a:extLst>
              <a:ext uri="{FF2B5EF4-FFF2-40B4-BE49-F238E27FC236}">
                <a16:creationId xmlns:a16="http://schemas.microsoft.com/office/drawing/2014/main" id="{455744D7-00FE-4364-D4F5-3FF037024B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4A93E6-63BC-9D87-D6EE-9F8B0102067B}"/>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2568352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CED2-6421-4DAE-BF25-8DFBA21612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E6AA9D-9E17-ACF2-1369-F2FF453A88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047989-B80A-4EB6-99A1-BFCFFA86A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C18FC1-64D7-313F-7930-679E9B88BEEE}"/>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6" name="Footer Placeholder 5">
            <a:extLst>
              <a:ext uri="{FF2B5EF4-FFF2-40B4-BE49-F238E27FC236}">
                <a16:creationId xmlns:a16="http://schemas.microsoft.com/office/drawing/2014/main" id="{9FEDABBE-647D-B712-E2DC-4B72A4F3E1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3A7EA2-D9A1-3E24-16C4-2D977B2C1CF3}"/>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3089030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C173A-6591-7EE1-732A-636A28E552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D064CE-6D9B-CCE2-D7DA-C84E1BB15F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A3FE9F-25EB-D0F5-3EE8-DCFFD63AE1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A174CB-D282-43E4-6AD0-55F1034D0ED2}"/>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6" name="Footer Placeholder 5">
            <a:extLst>
              <a:ext uri="{FF2B5EF4-FFF2-40B4-BE49-F238E27FC236}">
                <a16:creationId xmlns:a16="http://schemas.microsoft.com/office/drawing/2014/main" id="{4BA12CC6-EF5B-973B-B6EF-5490D02917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339DA6-7AA4-1529-DE67-F85CB3A0C4BB}"/>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4132638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59B5D-0992-86C6-94EB-6AEC687ACB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E343F3-F9AF-C10C-FE8E-1B0DF177A5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B9E6F5-F189-3586-B96F-88BE4C34BE1C}"/>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5" name="Footer Placeholder 4">
            <a:extLst>
              <a:ext uri="{FF2B5EF4-FFF2-40B4-BE49-F238E27FC236}">
                <a16:creationId xmlns:a16="http://schemas.microsoft.com/office/drawing/2014/main" id="{B684FD2B-C327-7F7C-6DF9-B47B5EF5D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AB45E-4E9B-CBC4-AE67-ADF84885AD15}"/>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1544470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4D9E24-0849-98BF-A5BD-6A6172A96A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9B5BB5-6DC6-46C1-2D8B-C1E4CE2418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B7FC9-B4B6-690A-E276-43F953C1E350}"/>
              </a:ext>
            </a:extLst>
          </p:cNvPr>
          <p:cNvSpPr>
            <a:spLocks noGrp="1"/>
          </p:cNvSpPr>
          <p:nvPr>
            <p:ph type="dt" sz="half" idx="10"/>
          </p:nvPr>
        </p:nvSpPr>
        <p:spPr/>
        <p:txBody>
          <a:bodyPr/>
          <a:lstStyle/>
          <a:p>
            <a:fld id="{26C22EB3-1424-4A30-86F4-F49425FE81E2}" type="datetimeFigureOut">
              <a:rPr lang="en-US" smtClean="0"/>
              <a:t>10/18/2026</a:t>
            </a:fld>
            <a:endParaRPr lang="en-US"/>
          </a:p>
        </p:txBody>
      </p:sp>
      <p:sp>
        <p:nvSpPr>
          <p:cNvPr id="5" name="Footer Placeholder 4">
            <a:extLst>
              <a:ext uri="{FF2B5EF4-FFF2-40B4-BE49-F238E27FC236}">
                <a16:creationId xmlns:a16="http://schemas.microsoft.com/office/drawing/2014/main" id="{0E7CE0EA-615A-465C-429F-881335422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94640-B2C9-86A8-34C9-67EF9DFA4AFF}"/>
              </a:ext>
            </a:extLst>
          </p:cNvPr>
          <p:cNvSpPr>
            <a:spLocks noGrp="1"/>
          </p:cNvSpPr>
          <p:nvPr>
            <p:ph type="sldNum" sz="quarter" idx="12"/>
          </p:nvPr>
        </p:nvSpPr>
        <p:spPr/>
        <p:txBody>
          <a:bodyPr/>
          <a:lstStyle/>
          <a:p>
            <a:fld id="{3F150D5D-6339-499E-9A71-C9179A69521E}" type="slidenum">
              <a:rPr lang="en-US" smtClean="0"/>
              <a:t>‹#›</a:t>
            </a:fld>
            <a:endParaRPr lang="en-US"/>
          </a:p>
        </p:txBody>
      </p:sp>
    </p:spTree>
    <p:extLst>
      <p:ext uri="{BB962C8B-B14F-4D97-AF65-F5344CB8AC3E}">
        <p14:creationId xmlns:p14="http://schemas.microsoft.com/office/powerpoint/2010/main" val="7645381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ACE601-00E5-5041-C358-6A99814CE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E7A1F4-38CE-505C-009F-24F9BFE0B7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52BB8B-A1A0-453B-DBB9-0F4F1EC66C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C22EB3-1424-4A30-86F4-F49425FE81E2}" type="datetimeFigureOut">
              <a:rPr lang="en-US" smtClean="0"/>
              <a:t>10/18/2026</a:t>
            </a:fld>
            <a:endParaRPr lang="en-US"/>
          </a:p>
        </p:txBody>
      </p:sp>
      <p:sp>
        <p:nvSpPr>
          <p:cNvPr id="5" name="Footer Placeholder 4">
            <a:extLst>
              <a:ext uri="{FF2B5EF4-FFF2-40B4-BE49-F238E27FC236}">
                <a16:creationId xmlns:a16="http://schemas.microsoft.com/office/drawing/2014/main" id="{078D4853-67FF-02D1-6F17-ED370C7AC3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7304E4-4277-7022-F1E0-2C570EC3FB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150D5D-6339-499E-9A71-C9179A69521E}" type="slidenum">
              <a:rPr lang="en-US" smtClean="0"/>
              <a:t>‹#›</a:t>
            </a:fld>
            <a:endParaRPr lang="en-US"/>
          </a:p>
        </p:txBody>
      </p:sp>
    </p:spTree>
    <p:extLst>
      <p:ext uri="{BB962C8B-B14F-4D97-AF65-F5344CB8AC3E}">
        <p14:creationId xmlns:p14="http://schemas.microsoft.com/office/powerpoint/2010/main" val="3920736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p:txBody>
          <a:bodyPr/>
          <a:lstStyle/>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Rounded Rectangle 4"/>
          <p:cNvSpPr/>
          <p:nvPr/>
        </p:nvSpPr>
        <p:spPr>
          <a:xfrm>
            <a:off x="731520" y="1517904"/>
            <a:ext cx="10744200" cy="4041648"/>
          </a:xfrm>
          <a:prstGeom prst="roundRect">
            <a:avLst>
              <a:gd name="adj" fmla="val 6000"/>
            </a:avLst>
          </a:prstGeom>
          <a:solidFill>
            <a:srgbClr val="FFFFFF">
              <a:alpha val="93000"/>
            </a:srgbClr>
          </a:solidFill>
          <a:ln w="12700">
            <a:solidFill>
              <a:srgbClr val="E4ED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731520" y="1517904"/>
            <a:ext cx="100584" cy="40416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32104" y="1517904"/>
            <a:ext cx="45720" cy="105156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78992" y="1719072"/>
            <a:ext cx="7315200" cy="310896"/>
          </a:xfrm>
          <a:prstGeom prst="rect">
            <a:avLst/>
          </a:prstGeom>
          <a:noFill/>
        </p:spPr>
        <p:txBody>
          <a:bodyPr wrap="square" anchor="t" lIns="0" tIns="0" rIns="0" bIns="0">
            <a:spAutoFit/>
          </a:bodyPr>
          <a:lstStyle/>
          <a:p>
            <a:pPr algn="l">
              <a:lnSpc>
                <a:spcPct val="100000"/>
              </a:lnSpc>
              <a:spcBef>
                <a:spcPts val="0"/>
              </a:spcBef>
              <a:spcAft>
                <a:spcPts val="0"/>
              </a:spcAft>
            </a:pPr>
            <a:r>
              <a:rPr sz="1100" b="1" i="0" spc="120">
                <a:solidFill>
                  <a:srgbClr val="1769AA"/>
                </a:solidFill>
                <a:latin typeface="Calibri"/>
              </a:rPr>
              <a:t>HỘI NGHỊ KHOA HỌC ERSD 2026</a:t>
            </a:r>
          </a:p>
        </p:txBody>
      </p:sp>
      <p:sp>
        <p:nvSpPr>
          <p:cNvPr id="9" name="TextBox 8"/>
          <p:cNvSpPr txBox="1"/>
          <p:nvPr/>
        </p:nvSpPr>
        <p:spPr>
          <a:xfrm>
            <a:off x="1078992" y="2121408"/>
            <a:ext cx="9921240" cy="1783080"/>
          </a:xfrm>
          <a:prstGeom prst="rect">
            <a:avLst/>
          </a:prstGeom>
          <a:noFill/>
        </p:spPr>
        <p:txBody>
          <a:bodyPr wrap="square" anchor="t" lIns="0" tIns="0" rIns="0" bIns="0">
            <a:spAutoFit/>
          </a:bodyPr>
          <a:lstStyle/>
          <a:p>
            <a:pPr algn="l">
              <a:lnSpc>
                <a:spcPct val="102000"/>
              </a:lnSpc>
              <a:spcBef>
                <a:spcPts val="0"/>
              </a:spcBef>
              <a:spcAft>
                <a:spcPts val="0"/>
              </a:spcAft>
            </a:pPr>
            <a:r>
              <a:rPr sz="2700" b="1" i="0">
                <a:solidFill>
                  <a:srgbClr val="0B2C4D"/>
                </a:solidFill>
                <a:latin typeface="Calibri"/>
              </a:rPr>
              <a:t>SỬ DỤNG PYTHON XỬ LÝ DỮ LIỆU CHỈ TIÊU CƠ LÝ ĐẤT
ĐỂ CHUẨN BỊ DỮ LIỆU HUẤN LUYỆN AI</a:t>
            </a:r>
          </a:p>
        </p:txBody>
      </p:sp>
      <p:sp>
        <p:nvSpPr>
          <p:cNvPr id="10" name="Rounded Rectangle 9"/>
          <p:cNvSpPr/>
          <p:nvPr/>
        </p:nvSpPr>
        <p:spPr>
          <a:xfrm>
            <a:off x="1078992" y="3968496"/>
            <a:ext cx="868680" cy="50292"/>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965960" y="3968496"/>
            <a:ext cx="347472" cy="50292"/>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8992" y="4160520"/>
            <a:ext cx="9875520" cy="310896"/>
          </a:xfrm>
          <a:prstGeom prst="rect">
            <a:avLst/>
          </a:prstGeom>
          <a:noFill/>
        </p:spPr>
        <p:txBody>
          <a:bodyPr wrap="square" anchor="t" lIns="0" tIns="0" rIns="0" bIns="0">
            <a:spAutoFit/>
          </a:bodyPr>
          <a:lstStyle/>
          <a:p>
            <a:pPr algn="l">
              <a:lnSpc>
                <a:spcPct val="100000"/>
              </a:lnSpc>
              <a:spcBef>
                <a:spcPts val="0"/>
              </a:spcBef>
              <a:spcAft>
                <a:spcPts val="0"/>
              </a:spcAft>
            </a:pPr>
            <a:r>
              <a:rPr sz="1550" b="1" i="0">
                <a:solidFill>
                  <a:srgbClr val="0B2C4D"/>
                </a:solidFill>
                <a:latin typeface="Calibri"/>
              </a:rPr>
              <a:t>Ngô Thị Phương Thảo,  Ngô Hùng Long,  Nguyễn Thị Hải Yến</a:t>
            </a:r>
          </a:p>
        </p:txBody>
      </p:sp>
      <p:sp>
        <p:nvSpPr>
          <p:cNvPr id="13" name="TextBox 12"/>
          <p:cNvSpPr txBox="1"/>
          <p:nvPr/>
        </p:nvSpPr>
        <p:spPr>
          <a:xfrm>
            <a:off x="1078992" y="4517136"/>
            <a:ext cx="9875520" cy="274320"/>
          </a:xfrm>
          <a:prstGeom prst="rect">
            <a:avLst/>
          </a:prstGeom>
          <a:noFill/>
        </p:spPr>
        <p:txBody>
          <a:bodyPr wrap="square" anchor="t" lIns="0" tIns="0" rIns="0" bIns="0">
            <a:spAutoFit/>
          </a:bodyPr>
          <a:lstStyle/>
          <a:p>
            <a:pPr algn="l">
              <a:lnSpc>
                <a:spcPct val="100000"/>
              </a:lnSpc>
              <a:spcBef>
                <a:spcPts val="0"/>
              </a:spcBef>
              <a:spcAft>
                <a:spcPts val="0"/>
              </a:spcAft>
            </a:pPr>
            <a:r>
              <a:rPr sz="1300" b="0" i="1">
                <a:solidFill>
                  <a:srgbClr val="1769AA"/>
                </a:solidFill>
                <a:latin typeface="Calibri"/>
              </a:rPr>
              <a:t>Trường Đại học Mỏ – Địa chất</a:t>
            </a:r>
          </a:p>
        </p:txBody>
      </p:sp>
      <p:sp>
        <p:nvSpPr>
          <p:cNvPr id="14" name="TextBox 13"/>
          <p:cNvSpPr txBox="1"/>
          <p:nvPr/>
        </p:nvSpPr>
        <p:spPr>
          <a:xfrm>
            <a:off x="1078992" y="5074920"/>
            <a:ext cx="9875520" cy="365760"/>
          </a:xfrm>
          <a:prstGeom prst="rect">
            <a:avLst/>
          </a:prstGeom>
          <a:noFill/>
        </p:spPr>
        <p:txBody>
          <a:bodyPr wrap="square" anchor="t" lIns="0" tIns="0" rIns="0" bIns="0">
            <a:spAutoFit/>
          </a:bodyPr>
          <a:lstStyle/>
          <a:p>
            <a:pPr algn="l">
              <a:lnSpc>
                <a:spcPct val="100000"/>
              </a:lnSpc>
              <a:spcBef>
                <a:spcPts val="0"/>
              </a:spcBef>
              <a:spcAft>
                <a:spcPts val="0"/>
              </a:spcAft>
            </a:pPr>
            <a:r>
              <a:rPr sz="1100" b="0" i="0">
                <a:solidFill>
                  <a:srgbClr val="526476"/>
                </a:solidFill>
                <a:latin typeface="Calibri"/>
              </a:rPr>
              <a:t>1966 – 2026  ·  60 năm Trường Đại học Mỏ – Địa chất</a:t>
            </a:r>
          </a:p>
        </p:txBody>
      </p:sp>
      <p:sp>
        <p:nvSpPr>
          <p:cNvPr id="15" name="TextBox 14"/>
          <p:cNvSpPr txBox="1"/>
          <p:nvPr/>
        </p:nvSpPr>
        <p:spPr>
          <a:xfrm>
            <a:off x="1078992" y="5806440"/>
            <a:ext cx="10424160" cy="310896"/>
          </a:xfrm>
          <a:prstGeom prst="rect">
            <a:avLst/>
          </a:prstGeom>
          <a:noFill/>
        </p:spPr>
        <p:txBody>
          <a:bodyPr wrap="square" anchor="t" lIns="0" tIns="0" rIns="0" bIns="0">
            <a:spAutoFit/>
          </a:bodyPr>
          <a:lstStyle/>
          <a:p>
            <a:pPr algn="l">
              <a:lnSpc>
                <a:spcPct val="100000"/>
              </a:lnSpc>
              <a:spcBef>
                <a:spcPts val="0"/>
              </a:spcBef>
              <a:spcAft>
                <a:spcPts val="0"/>
              </a:spcAft>
            </a:pPr>
            <a:r>
              <a:rPr sz="1500" b="1" i="0">
                <a:solidFill>
                  <a:srgbClr val="5FA83C"/>
                </a:solidFill>
                <a:latin typeface="Calibri"/>
              </a:rPr>
              <a:t>166</a:t>
            </a:r>
            <a:r>
              <a:rPr sz="1000" b="0" i="0">
                <a:solidFill>
                  <a:srgbClr val="526476"/>
                </a:solidFill>
                <a:latin typeface="Calibri"/>
              </a:rPr>
              <a:t> tệp đầu vào    </a:t>
            </a:r>
            <a:r>
              <a:rPr sz="1500" b="1" i="0">
                <a:solidFill>
                  <a:srgbClr val="1769AA"/>
                </a:solidFill>
                <a:latin typeface="Calibri"/>
              </a:rPr>
              <a:t>963</a:t>
            </a:r>
            <a:r>
              <a:rPr sz="1000" b="0" i="0">
                <a:solidFill>
                  <a:srgbClr val="526476"/>
                </a:solidFill>
                <a:latin typeface="Calibri"/>
              </a:rPr>
              <a:t> sheet    </a:t>
            </a:r>
            <a:r>
              <a:rPr sz="1500" b="1" i="0">
                <a:solidFill>
                  <a:srgbClr val="E8891C"/>
                </a:solidFill>
                <a:latin typeface="Calibri"/>
              </a:rPr>
              <a:t>20.532</a:t>
            </a:r>
            <a:r>
              <a:rPr sz="1000" b="0" i="0">
                <a:solidFill>
                  <a:srgbClr val="526476"/>
                </a:solidFill>
                <a:latin typeface="Calibri"/>
              </a:rPr>
              <a:t> mẫu hợp lệ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Bốn phần của báo cáo</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00  </a:t>
            </a:r>
            <a:r>
              <a:rPr sz="1100" b="1" i="0" spc="100">
                <a:solidFill>
                  <a:srgbClr val="8593A1"/>
                </a:solidFill>
                <a:latin typeface="Calibri"/>
              </a:rPr>
              <a:t>|  NỘI DUNG TRÌNH BÀY</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1874519"/>
            <a:ext cx="5349240" cy="169164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41832" y="2103120"/>
            <a:ext cx="960120" cy="868680"/>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1769AA"/>
                </a:solidFill>
                <a:latin typeface="Calibri Light"/>
              </a:rPr>
              <a:t>01</a:t>
            </a:r>
          </a:p>
        </p:txBody>
      </p:sp>
      <p:sp>
        <p:nvSpPr>
          <p:cNvPr id="11" name="TextBox 10"/>
          <p:cNvSpPr txBox="1"/>
          <p:nvPr/>
        </p:nvSpPr>
        <p:spPr>
          <a:xfrm>
            <a:off x="1892808" y="2130552"/>
            <a:ext cx="3840480" cy="384048"/>
          </a:xfrm>
          <a:prstGeom prst="rect">
            <a:avLst/>
          </a:prstGeom>
          <a:noFill/>
        </p:spPr>
        <p:txBody>
          <a:bodyPr wrap="square" anchor="t" lIns="0" tIns="0" rIns="0" bIns="0">
            <a:spAutoFit/>
          </a:bodyPr>
          <a:lstStyle/>
          <a:p>
            <a:pPr algn="l">
              <a:lnSpc>
                <a:spcPct val="100000"/>
              </a:lnSpc>
              <a:spcBef>
                <a:spcPts val="0"/>
              </a:spcBef>
              <a:spcAft>
                <a:spcPts val="0"/>
              </a:spcAft>
            </a:pPr>
            <a:r>
              <a:rPr sz="1800" b="1" i="0">
                <a:solidFill>
                  <a:srgbClr val="0B2C4D"/>
                </a:solidFill>
                <a:latin typeface="Calibri"/>
              </a:rPr>
              <a:t>Đặt vấn đề</a:t>
            </a:r>
          </a:p>
        </p:txBody>
      </p:sp>
      <p:sp>
        <p:nvSpPr>
          <p:cNvPr id="12" name="TextBox 11"/>
          <p:cNvSpPr txBox="1"/>
          <p:nvPr/>
        </p:nvSpPr>
        <p:spPr>
          <a:xfrm>
            <a:off x="1901952" y="2624327"/>
            <a:ext cx="3822191" cy="658368"/>
          </a:xfrm>
          <a:prstGeom prst="rect">
            <a:avLst/>
          </a:prstGeom>
          <a:noFill/>
        </p:spPr>
        <p:txBody>
          <a:bodyPr wrap="square" anchor="t" lIns="0" tIns="0" rIns="0" bIns="0">
            <a:spAutoFit/>
          </a:bodyPr>
          <a:lstStyle/>
          <a:p>
            <a:pPr algn="l">
              <a:lnSpc>
                <a:spcPct val="110000"/>
              </a:lnSpc>
              <a:spcBef>
                <a:spcPts val="0"/>
              </a:spcBef>
              <a:spcAft>
                <a:spcPts val="0"/>
              </a:spcAft>
            </a:pPr>
            <a:r>
              <a:rPr sz="1150" b="0" i="0">
                <a:solidFill>
                  <a:srgbClr val="526476"/>
                </a:solidFill>
                <a:latin typeface="Calibri"/>
              </a:rPr>
              <a:t>Vì sao dữ liệu Excel lịch sử khó đưa vào pipeline AI?</a:t>
            </a:r>
          </a:p>
        </p:txBody>
      </p:sp>
      <p:sp>
        <p:nvSpPr>
          <p:cNvPr id="13" name="Rounded Rectangle 12"/>
          <p:cNvSpPr/>
          <p:nvPr/>
        </p:nvSpPr>
        <p:spPr>
          <a:xfrm>
            <a:off x="1892808" y="3291839"/>
            <a:ext cx="502920" cy="32004"/>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336792" y="1874519"/>
            <a:ext cx="5349240" cy="169164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92824" y="2103120"/>
            <a:ext cx="960120" cy="868680"/>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5FA83C"/>
                </a:solidFill>
                <a:latin typeface="Calibri Light"/>
              </a:rPr>
              <a:t>02</a:t>
            </a:r>
          </a:p>
        </p:txBody>
      </p:sp>
      <p:sp>
        <p:nvSpPr>
          <p:cNvPr id="16" name="TextBox 15"/>
          <p:cNvSpPr txBox="1"/>
          <p:nvPr/>
        </p:nvSpPr>
        <p:spPr>
          <a:xfrm>
            <a:off x="7543800" y="2130552"/>
            <a:ext cx="3840480" cy="384048"/>
          </a:xfrm>
          <a:prstGeom prst="rect">
            <a:avLst/>
          </a:prstGeom>
          <a:noFill/>
        </p:spPr>
        <p:txBody>
          <a:bodyPr wrap="square" anchor="t" lIns="0" tIns="0" rIns="0" bIns="0">
            <a:spAutoFit/>
          </a:bodyPr>
          <a:lstStyle/>
          <a:p>
            <a:pPr algn="l">
              <a:lnSpc>
                <a:spcPct val="100000"/>
              </a:lnSpc>
              <a:spcBef>
                <a:spcPts val="0"/>
              </a:spcBef>
              <a:spcAft>
                <a:spcPts val="0"/>
              </a:spcAft>
            </a:pPr>
            <a:r>
              <a:rPr sz="1800" b="1" i="0">
                <a:solidFill>
                  <a:srgbClr val="0B2C4D"/>
                </a:solidFill>
                <a:latin typeface="Calibri"/>
              </a:rPr>
              <a:t>Phương pháp</a:t>
            </a:r>
          </a:p>
        </p:txBody>
      </p:sp>
      <p:sp>
        <p:nvSpPr>
          <p:cNvPr id="17" name="TextBox 16"/>
          <p:cNvSpPr txBox="1"/>
          <p:nvPr/>
        </p:nvSpPr>
        <p:spPr>
          <a:xfrm>
            <a:off x="7552944" y="2624327"/>
            <a:ext cx="3822191" cy="658368"/>
          </a:xfrm>
          <a:prstGeom prst="rect">
            <a:avLst/>
          </a:prstGeom>
          <a:noFill/>
        </p:spPr>
        <p:txBody>
          <a:bodyPr wrap="square" anchor="t" lIns="0" tIns="0" rIns="0" bIns="0">
            <a:spAutoFit/>
          </a:bodyPr>
          <a:lstStyle/>
          <a:p>
            <a:pPr algn="l">
              <a:lnSpc>
                <a:spcPct val="110000"/>
              </a:lnSpc>
              <a:spcBef>
                <a:spcPts val="0"/>
              </a:spcBef>
              <a:spcAft>
                <a:spcPts val="0"/>
              </a:spcAft>
            </a:pPr>
            <a:r>
              <a:rPr sz="1150" b="0" i="0">
                <a:solidFill>
                  <a:srgbClr val="526476"/>
                </a:solidFill>
                <a:latin typeface="Calibri"/>
              </a:rPr>
              <a:t>Thu thập – phân tích – lập trình – kiểm chứng</a:t>
            </a:r>
          </a:p>
        </p:txBody>
      </p:sp>
      <p:sp>
        <p:nvSpPr>
          <p:cNvPr id="18" name="Rounded Rectangle 17"/>
          <p:cNvSpPr/>
          <p:nvPr/>
        </p:nvSpPr>
        <p:spPr>
          <a:xfrm>
            <a:off x="7543800" y="3291839"/>
            <a:ext cx="502920" cy="32004"/>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85800" y="3867912"/>
            <a:ext cx="5349240" cy="169164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41832" y="4096512"/>
            <a:ext cx="960120" cy="868680"/>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E8891C"/>
                </a:solidFill>
                <a:latin typeface="Calibri Light"/>
              </a:rPr>
              <a:t>03</a:t>
            </a:r>
          </a:p>
        </p:txBody>
      </p:sp>
      <p:sp>
        <p:nvSpPr>
          <p:cNvPr id="21" name="TextBox 20"/>
          <p:cNvSpPr txBox="1"/>
          <p:nvPr/>
        </p:nvSpPr>
        <p:spPr>
          <a:xfrm>
            <a:off x="1892808" y="4123944"/>
            <a:ext cx="3840480" cy="384048"/>
          </a:xfrm>
          <a:prstGeom prst="rect">
            <a:avLst/>
          </a:prstGeom>
          <a:noFill/>
        </p:spPr>
        <p:txBody>
          <a:bodyPr wrap="square" anchor="t" lIns="0" tIns="0" rIns="0" bIns="0">
            <a:spAutoFit/>
          </a:bodyPr>
          <a:lstStyle/>
          <a:p>
            <a:pPr algn="l">
              <a:lnSpc>
                <a:spcPct val="100000"/>
              </a:lnSpc>
              <a:spcBef>
                <a:spcPts val="0"/>
              </a:spcBef>
              <a:spcAft>
                <a:spcPts val="0"/>
              </a:spcAft>
            </a:pPr>
            <a:r>
              <a:rPr sz="1800" b="1" i="0">
                <a:solidFill>
                  <a:srgbClr val="0B2C4D"/>
                </a:solidFill>
                <a:latin typeface="Calibri"/>
              </a:rPr>
              <a:t>Kết quả</a:t>
            </a:r>
          </a:p>
        </p:txBody>
      </p:sp>
      <p:sp>
        <p:nvSpPr>
          <p:cNvPr id="22" name="TextBox 21"/>
          <p:cNvSpPr txBox="1"/>
          <p:nvPr/>
        </p:nvSpPr>
        <p:spPr>
          <a:xfrm>
            <a:off x="1901952" y="4617720"/>
            <a:ext cx="3822191" cy="658368"/>
          </a:xfrm>
          <a:prstGeom prst="rect">
            <a:avLst/>
          </a:prstGeom>
          <a:noFill/>
        </p:spPr>
        <p:txBody>
          <a:bodyPr wrap="square" anchor="t" lIns="0" tIns="0" rIns="0" bIns="0">
            <a:spAutoFit/>
          </a:bodyPr>
          <a:lstStyle/>
          <a:p>
            <a:pPr algn="l">
              <a:lnSpc>
                <a:spcPct val="110000"/>
              </a:lnSpc>
              <a:spcBef>
                <a:spcPts val="0"/>
              </a:spcBef>
              <a:spcAft>
                <a:spcPts val="0"/>
              </a:spcAft>
            </a:pPr>
            <a:r>
              <a:rPr sz="1150" b="0" i="0">
                <a:solidFill>
                  <a:srgbClr val="526476"/>
                </a:solidFill>
                <a:latin typeface="Calibri"/>
              </a:rPr>
              <a:t>Định lượng, định tính và thảo luận</a:t>
            </a:r>
          </a:p>
        </p:txBody>
      </p:sp>
      <p:sp>
        <p:nvSpPr>
          <p:cNvPr id="23" name="Rounded Rectangle 22"/>
          <p:cNvSpPr/>
          <p:nvPr/>
        </p:nvSpPr>
        <p:spPr>
          <a:xfrm>
            <a:off x="1892808" y="5285232"/>
            <a:ext cx="502920" cy="32004"/>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336792" y="3867912"/>
            <a:ext cx="5349240" cy="169164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92824" y="4096512"/>
            <a:ext cx="960120" cy="868680"/>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10507F"/>
                </a:solidFill>
                <a:latin typeface="Calibri Light"/>
              </a:rPr>
              <a:t>04</a:t>
            </a:r>
          </a:p>
        </p:txBody>
      </p:sp>
      <p:sp>
        <p:nvSpPr>
          <p:cNvPr id="26" name="TextBox 25"/>
          <p:cNvSpPr txBox="1"/>
          <p:nvPr/>
        </p:nvSpPr>
        <p:spPr>
          <a:xfrm>
            <a:off x="7543800" y="4123944"/>
            <a:ext cx="3840480" cy="384048"/>
          </a:xfrm>
          <a:prstGeom prst="rect">
            <a:avLst/>
          </a:prstGeom>
          <a:noFill/>
        </p:spPr>
        <p:txBody>
          <a:bodyPr wrap="square" anchor="t" lIns="0" tIns="0" rIns="0" bIns="0">
            <a:spAutoFit/>
          </a:bodyPr>
          <a:lstStyle/>
          <a:p>
            <a:pPr algn="l">
              <a:lnSpc>
                <a:spcPct val="100000"/>
              </a:lnSpc>
              <a:spcBef>
                <a:spcPts val="0"/>
              </a:spcBef>
              <a:spcAft>
                <a:spcPts val="0"/>
              </a:spcAft>
            </a:pPr>
            <a:r>
              <a:rPr sz="1800" b="1" i="0">
                <a:solidFill>
                  <a:srgbClr val="0B2C4D"/>
                </a:solidFill>
                <a:latin typeface="Calibri"/>
              </a:rPr>
              <a:t>Kết luận</a:t>
            </a:r>
          </a:p>
        </p:txBody>
      </p:sp>
      <p:sp>
        <p:nvSpPr>
          <p:cNvPr id="27" name="TextBox 26"/>
          <p:cNvSpPr txBox="1"/>
          <p:nvPr/>
        </p:nvSpPr>
        <p:spPr>
          <a:xfrm>
            <a:off x="7552944" y="4617720"/>
            <a:ext cx="3822191" cy="658368"/>
          </a:xfrm>
          <a:prstGeom prst="rect">
            <a:avLst/>
          </a:prstGeom>
          <a:noFill/>
        </p:spPr>
        <p:txBody>
          <a:bodyPr wrap="square" anchor="t" lIns="0" tIns="0" rIns="0" bIns="0">
            <a:spAutoFit/>
          </a:bodyPr>
          <a:lstStyle/>
          <a:p>
            <a:pPr algn="l">
              <a:lnSpc>
                <a:spcPct val="110000"/>
              </a:lnSpc>
              <a:spcBef>
                <a:spcPts val="0"/>
              </a:spcBef>
              <a:spcAft>
                <a:spcPts val="0"/>
              </a:spcAft>
            </a:pPr>
            <a:r>
              <a:rPr sz="1150" b="0" i="0">
                <a:solidFill>
                  <a:srgbClr val="526476"/>
                </a:solidFill>
                <a:latin typeface="Calibri"/>
              </a:rPr>
              <a:t>Bài học, hạn chế và hướng phát triển</a:t>
            </a:r>
          </a:p>
        </p:txBody>
      </p:sp>
      <p:sp>
        <p:nvSpPr>
          <p:cNvPr id="28" name="Rounded Rectangle 27"/>
          <p:cNvSpPr/>
          <p:nvPr/>
        </p:nvSpPr>
        <p:spPr>
          <a:xfrm>
            <a:off x="7543800" y="5285232"/>
            <a:ext cx="502920" cy="32004"/>
          </a:xfrm>
          <a:prstGeom prst="roundRect">
            <a:avLst>
              <a:gd name="adj" fmla="val 0"/>
            </a:avLst>
          </a:prstGeom>
          <a:solidFill>
            <a:srgbClr val="105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1" name="TextBox 30"/>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100" b="1">
                <a:solidFill>
                  <a:srgbClr val="0B2C4D"/>
                </a:solidFill>
                <a:latin typeface="Calibri"/>
              </a:rPr>
              <a:t>Dữ liệu địa kỹ thuật lịch sử: giàu số liệu, nghèo tính nhất quán</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01  </a:t>
            </a:r>
            <a:r>
              <a:rPr sz="1100" b="1" i="0" spc="100">
                <a:solidFill>
                  <a:srgbClr val="8593A1"/>
                </a:solidFill>
                <a:latin typeface="Calibri"/>
              </a:rPr>
              <a:t>|  ĐẶT VẤN ĐỀ</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83080"/>
            <a:ext cx="3566160" cy="2697480"/>
          </a:xfrm>
          <a:prstGeom prst="roundRect">
            <a:avLst>
              <a:gd name="adj" fmla="val 9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96112" y="1993392"/>
            <a:ext cx="457200" cy="457200"/>
          </a:xfrm>
          <a:prstGeom prst="ellipse">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200" b="1" i="0">
                <a:solidFill>
                  <a:srgbClr val="FFFFFF"/>
                </a:solidFill>
                <a:latin typeface="Calibri"/>
              </a:rPr>
              <a:t>01</a:t>
            </a:r>
          </a:p>
        </p:txBody>
      </p:sp>
      <p:sp>
        <p:nvSpPr>
          <p:cNvPr id="11" name="TextBox 10"/>
          <p:cNvSpPr txBox="1"/>
          <p:nvPr/>
        </p:nvSpPr>
        <p:spPr>
          <a:xfrm>
            <a:off x="896112" y="2615184"/>
            <a:ext cx="3090672" cy="566928"/>
          </a:xfrm>
          <a:prstGeom prst="rect">
            <a:avLst/>
          </a:prstGeom>
          <a:noFill/>
        </p:spPr>
        <p:txBody>
          <a:bodyPr wrap="square" anchor="t" lIns="0" tIns="0" rIns="0" bIns="0">
            <a:spAutoFit/>
          </a:bodyPr>
          <a:lstStyle/>
          <a:p>
            <a:pPr algn="l">
              <a:lnSpc>
                <a:spcPct val="100000"/>
              </a:lnSpc>
              <a:spcBef>
                <a:spcPts val="0"/>
              </a:spcBef>
              <a:spcAft>
                <a:spcPts val="0"/>
              </a:spcAft>
            </a:pPr>
            <a:r>
              <a:rPr sz="1650" b="1" i="0">
                <a:solidFill>
                  <a:srgbClr val="0B2C4D"/>
                </a:solidFill>
                <a:latin typeface="Calibri"/>
              </a:rPr>
              <a:t>Dữ liệu phân tán</a:t>
            </a:r>
          </a:p>
        </p:txBody>
      </p:sp>
      <p:sp>
        <p:nvSpPr>
          <p:cNvPr id="12" name="TextBox 11"/>
          <p:cNvSpPr txBox="1"/>
          <p:nvPr/>
        </p:nvSpPr>
        <p:spPr>
          <a:xfrm>
            <a:off x="896112" y="3246120"/>
            <a:ext cx="3090672" cy="1051560"/>
          </a:xfrm>
          <a:prstGeom prst="rect">
            <a:avLst/>
          </a:prstGeom>
          <a:noFill/>
        </p:spPr>
        <p:txBody>
          <a:bodyPr wrap="square" anchor="t" lIns="0" tIns="0" rIns="0" bIns="0">
            <a:spAutoFit/>
          </a:bodyPr>
          <a:lstStyle/>
          <a:p>
            <a:pPr algn="l">
              <a:lnSpc>
                <a:spcPct val="112000"/>
              </a:lnSpc>
              <a:spcBef>
                <a:spcPts val="0"/>
              </a:spcBef>
              <a:spcAft>
                <a:spcPts val="0"/>
              </a:spcAft>
            </a:pPr>
            <a:r>
              <a:rPr sz="1150" b="0" i="0">
                <a:solidFill>
                  <a:srgbClr val="526476"/>
                </a:solidFill>
                <a:latin typeface="Calibri"/>
              </a:rPr>
              <a:t>166 workbook, nhiều sheet trong mỗi hồ sơ; trộn .xls, .xlsx và cả tên dạng .xls.xlsx.</a:t>
            </a:r>
          </a:p>
        </p:txBody>
      </p:sp>
      <p:sp>
        <p:nvSpPr>
          <p:cNvPr id="13" name="Rounded Rectangle 12"/>
          <p:cNvSpPr/>
          <p:nvPr/>
        </p:nvSpPr>
        <p:spPr>
          <a:xfrm>
            <a:off x="4425696" y="1783080"/>
            <a:ext cx="3566160" cy="2697480"/>
          </a:xfrm>
          <a:prstGeom prst="roundRect">
            <a:avLst>
              <a:gd name="adj" fmla="val 9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663440" y="1993392"/>
            <a:ext cx="457200" cy="457200"/>
          </a:xfrm>
          <a:prstGeom prst="ellipse">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200" b="1" i="0">
                <a:solidFill>
                  <a:srgbClr val="FFFFFF"/>
                </a:solidFill>
                <a:latin typeface="Calibri"/>
              </a:rPr>
              <a:t>02</a:t>
            </a:r>
          </a:p>
        </p:txBody>
      </p:sp>
      <p:sp>
        <p:nvSpPr>
          <p:cNvPr id="15" name="TextBox 14"/>
          <p:cNvSpPr txBox="1"/>
          <p:nvPr/>
        </p:nvSpPr>
        <p:spPr>
          <a:xfrm>
            <a:off x="4663440" y="2615184"/>
            <a:ext cx="3090672" cy="566928"/>
          </a:xfrm>
          <a:prstGeom prst="rect">
            <a:avLst/>
          </a:prstGeom>
          <a:noFill/>
        </p:spPr>
        <p:txBody>
          <a:bodyPr wrap="square" anchor="t" lIns="0" tIns="0" rIns="0" bIns="0">
            <a:spAutoFit/>
          </a:bodyPr>
          <a:lstStyle/>
          <a:p>
            <a:pPr algn="l">
              <a:lnSpc>
                <a:spcPct val="100000"/>
              </a:lnSpc>
              <a:spcBef>
                <a:spcPts val="0"/>
              </a:spcBef>
              <a:spcAft>
                <a:spcPts val="0"/>
              </a:spcAft>
            </a:pPr>
            <a:r>
              <a:rPr sz="1650" b="1" i="0">
                <a:solidFill>
                  <a:srgbClr val="0B2C4D"/>
                </a:solidFill>
                <a:latin typeface="Calibri"/>
              </a:rPr>
              <a:t>Lỗi bảng mã</a:t>
            </a:r>
          </a:p>
        </p:txBody>
      </p:sp>
      <p:sp>
        <p:nvSpPr>
          <p:cNvPr id="16" name="TextBox 15"/>
          <p:cNvSpPr txBox="1"/>
          <p:nvPr/>
        </p:nvSpPr>
        <p:spPr>
          <a:xfrm>
            <a:off x="4663440" y="3246120"/>
            <a:ext cx="3090672" cy="1051560"/>
          </a:xfrm>
          <a:prstGeom prst="rect">
            <a:avLst/>
          </a:prstGeom>
          <a:noFill/>
        </p:spPr>
        <p:txBody>
          <a:bodyPr wrap="square" anchor="t" lIns="0" tIns="0" rIns="0" bIns="0">
            <a:spAutoFit/>
          </a:bodyPr>
          <a:lstStyle/>
          <a:p>
            <a:pPr algn="l">
              <a:lnSpc>
                <a:spcPct val="112000"/>
              </a:lnSpc>
              <a:spcBef>
                <a:spcPts val="0"/>
              </a:spcBef>
              <a:spcAft>
                <a:spcPts val="0"/>
              </a:spcAft>
            </a:pPr>
            <a:r>
              <a:rPr sz="1150" b="0" i="0">
                <a:solidFill>
                  <a:srgbClr val="526476"/>
                </a:solidFill>
                <a:latin typeface="Calibri"/>
              </a:rPr>
              <a:t>Văn bản soạn bằng TCVN3 / font .Vn… bị sai dấu khi đọc hoặc ghi ra, cản trở ghép nối pipeline.</a:t>
            </a:r>
          </a:p>
        </p:txBody>
      </p:sp>
      <p:sp>
        <p:nvSpPr>
          <p:cNvPr id="17" name="Rounded Rectangle 16"/>
          <p:cNvSpPr/>
          <p:nvPr/>
        </p:nvSpPr>
        <p:spPr>
          <a:xfrm>
            <a:off x="8193024" y="1783080"/>
            <a:ext cx="3566160" cy="2697480"/>
          </a:xfrm>
          <a:prstGeom prst="roundRect">
            <a:avLst>
              <a:gd name="adj" fmla="val 9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430768" y="1993392"/>
            <a:ext cx="457200" cy="457200"/>
          </a:xfrm>
          <a:prstGeom prst="ellipse">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200" b="1" i="0">
                <a:solidFill>
                  <a:srgbClr val="FFFFFF"/>
                </a:solidFill>
                <a:latin typeface="Calibri"/>
              </a:rPr>
              <a:t>03</a:t>
            </a:r>
          </a:p>
        </p:txBody>
      </p:sp>
      <p:sp>
        <p:nvSpPr>
          <p:cNvPr id="19" name="TextBox 18"/>
          <p:cNvSpPr txBox="1"/>
          <p:nvPr/>
        </p:nvSpPr>
        <p:spPr>
          <a:xfrm>
            <a:off x="8430768" y="2615184"/>
            <a:ext cx="3090672" cy="566928"/>
          </a:xfrm>
          <a:prstGeom prst="rect">
            <a:avLst/>
          </a:prstGeom>
          <a:noFill/>
        </p:spPr>
        <p:txBody>
          <a:bodyPr wrap="square" anchor="t" lIns="0" tIns="0" rIns="0" bIns="0">
            <a:spAutoFit/>
          </a:bodyPr>
          <a:lstStyle/>
          <a:p>
            <a:pPr algn="l">
              <a:lnSpc>
                <a:spcPct val="100000"/>
              </a:lnSpc>
              <a:spcBef>
                <a:spcPts val="0"/>
              </a:spcBef>
              <a:spcAft>
                <a:spcPts val="0"/>
              </a:spcAft>
            </a:pPr>
            <a:r>
              <a:rPr sz="1650" b="1" i="0">
                <a:solidFill>
                  <a:srgbClr val="0B2C4D"/>
                </a:solidFill>
                <a:latin typeface="Calibri"/>
              </a:rPr>
              <a:t>Cấu trúc không đồng nhất</a:t>
            </a:r>
          </a:p>
        </p:txBody>
      </p:sp>
      <p:sp>
        <p:nvSpPr>
          <p:cNvPr id="20" name="TextBox 19"/>
          <p:cNvSpPr txBox="1"/>
          <p:nvPr/>
        </p:nvSpPr>
        <p:spPr>
          <a:xfrm>
            <a:off x="8430768" y="3246120"/>
            <a:ext cx="3090672" cy="1051560"/>
          </a:xfrm>
          <a:prstGeom prst="rect">
            <a:avLst/>
          </a:prstGeom>
          <a:noFill/>
        </p:spPr>
        <p:txBody>
          <a:bodyPr wrap="square" anchor="t" lIns="0" tIns="0" rIns="0" bIns="0">
            <a:spAutoFit/>
          </a:bodyPr>
          <a:lstStyle/>
          <a:p>
            <a:pPr algn="l">
              <a:lnSpc>
                <a:spcPct val="112000"/>
              </a:lnSpc>
              <a:spcBef>
                <a:spcPts val="0"/>
              </a:spcBef>
              <a:spcAft>
                <a:spcPts val="0"/>
              </a:spcAft>
            </a:pPr>
            <a:r>
              <a:rPr sz="1150" b="0" i="0">
                <a:solidFill>
                  <a:srgbClr val="526476"/>
                </a:solidFill>
                <a:latin typeface="Calibri"/>
              </a:rPr>
              <a:t>Vùng bảng, dòng tiêu đề, đơn vị và tên chỉ tiêu thay đổi theo từng đơn vị soạn thảo.</a:t>
            </a:r>
          </a:p>
        </p:txBody>
      </p:sp>
      <p:sp>
        <p:nvSpPr>
          <p:cNvPr id="21" name="Rounded Rectangle 20"/>
          <p:cNvSpPr/>
          <p:nvPr/>
        </p:nvSpPr>
        <p:spPr>
          <a:xfrm>
            <a:off x="658368" y="4800600"/>
            <a:ext cx="10927080" cy="1005840"/>
          </a:xfrm>
          <a:prstGeom prst="roundRect">
            <a:avLst>
              <a:gd name="adj" fmla="val 12000"/>
            </a:avLst>
          </a:prstGeom>
          <a:solidFill>
            <a:srgbClr val="EC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658368" y="4800600"/>
            <a:ext cx="68580" cy="100584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4846320"/>
            <a:ext cx="10515600" cy="914400"/>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Cần một quy trình tự động, tái lập:  chuẩn hóa mã ký tự  +  tách sheet  +  xuất CSV  →  sẵn sàng cho AI</a:t>
            </a:r>
          </a:p>
        </p:txBody>
      </p:sp>
      <p:cxnSp>
        <p:nvCxnSpPr>
          <p:cNvPr id="24" name="Connector 23"/>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26" name="TextBox 25"/>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Bốn mục tiêu của nghiên cứu</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01  </a:t>
            </a:r>
            <a:r>
              <a:rPr sz="1100" b="1" i="0" spc="100">
                <a:solidFill>
                  <a:srgbClr val="8593A1"/>
                </a:solidFill>
                <a:latin typeface="Calibri"/>
              </a:rPr>
              <a:t>|  MỤC TIÊU</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1737360"/>
            <a:ext cx="7635240" cy="87782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901952"/>
            <a:ext cx="566928" cy="502920"/>
          </a:xfrm>
          <a:prstGeom prst="rect">
            <a:avLst/>
          </a:prstGeom>
          <a:noFill/>
        </p:spPr>
        <p:txBody>
          <a:bodyPr wrap="square" anchor="t" lIns="0" tIns="0" rIns="0" bIns="0">
            <a:spAutoFit/>
          </a:bodyPr>
          <a:lstStyle/>
          <a:p>
            <a:pPr algn="l">
              <a:lnSpc>
                <a:spcPct val="100000"/>
              </a:lnSpc>
              <a:spcBef>
                <a:spcPts val="0"/>
              </a:spcBef>
              <a:spcAft>
                <a:spcPts val="0"/>
              </a:spcAft>
            </a:pPr>
            <a:r>
              <a:rPr sz="2100" b="1" i="0">
                <a:solidFill>
                  <a:srgbClr val="1769AA"/>
                </a:solidFill>
                <a:latin typeface="Calibri Light"/>
              </a:rPr>
              <a:t>01</a:t>
            </a:r>
          </a:p>
        </p:txBody>
      </p:sp>
      <p:sp>
        <p:nvSpPr>
          <p:cNvPr id="11" name="TextBox 10"/>
          <p:cNvSpPr txBox="1"/>
          <p:nvPr/>
        </p:nvSpPr>
        <p:spPr>
          <a:xfrm>
            <a:off x="1572768" y="1865376"/>
            <a:ext cx="2057400" cy="292608"/>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Quét hàng loạt</a:t>
            </a:r>
          </a:p>
        </p:txBody>
      </p:sp>
      <p:sp>
        <p:nvSpPr>
          <p:cNvPr id="12" name="TextBox 11"/>
          <p:cNvSpPr txBox="1"/>
          <p:nvPr/>
        </p:nvSpPr>
        <p:spPr>
          <a:xfrm>
            <a:off x="3611880" y="1856231"/>
            <a:ext cx="4526280" cy="640080"/>
          </a:xfrm>
          <a:prstGeom prst="rect">
            <a:avLst/>
          </a:prstGeom>
          <a:noFill/>
        </p:spPr>
        <p:txBody>
          <a:bodyPr wrap="square" anchor="t" lIns="0" tIns="0" rIns="0" bIns="0">
            <a:spAutoFit/>
          </a:bodyPr>
          <a:lstStyle/>
          <a:p>
            <a:pPr algn="l">
              <a:lnSpc>
                <a:spcPct val="105000"/>
              </a:lnSpc>
              <a:spcBef>
                <a:spcPts val="0"/>
              </a:spcBef>
              <a:spcAft>
                <a:spcPts val="0"/>
              </a:spcAft>
            </a:pPr>
            <a:r>
              <a:rPr sz="1050" b="0" i="0">
                <a:solidFill>
                  <a:srgbClr val="526476"/>
                </a:solidFill>
                <a:latin typeface="Calibri"/>
              </a:rPr>
              <a:t>Duyệt toàn bộ .xls / .xlsx trong thư mục cấu hình, không sửa mã khi thêm hồ sơ mới.</a:t>
            </a:r>
          </a:p>
        </p:txBody>
      </p:sp>
      <p:sp>
        <p:nvSpPr>
          <p:cNvPr id="13" name="Rounded Rectangle 12"/>
          <p:cNvSpPr/>
          <p:nvPr/>
        </p:nvSpPr>
        <p:spPr>
          <a:xfrm>
            <a:off x="685800" y="2761488"/>
            <a:ext cx="7635240" cy="87782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6080"/>
            <a:ext cx="566928" cy="502920"/>
          </a:xfrm>
          <a:prstGeom prst="rect">
            <a:avLst/>
          </a:prstGeom>
          <a:noFill/>
        </p:spPr>
        <p:txBody>
          <a:bodyPr wrap="square" anchor="t" lIns="0" tIns="0" rIns="0" bIns="0">
            <a:spAutoFit/>
          </a:bodyPr>
          <a:lstStyle/>
          <a:p>
            <a:pPr algn="l">
              <a:lnSpc>
                <a:spcPct val="100000"/>
              </a:lnSpc>
              <a:spcBef>
                <a:spcPts val="0"/>
              </a:spcBef>
              <a:spcAft>
                <a:spcPts val="0"/>
              </a:spcAft>
            </a:pPr>
            <a:r>
              <a:rPr sz="2100" b="1" i="0">
                <a:solidFill>
                  <a:srgbClr val="1769AA"/>
                </a:solidFill>
                <a:latin typeface="Calibri Light"/>
              </a:rPr>
              <a:t>02</a:t>
            </a:r>
          </a:p>
        </p:txBody>
      </p:sp>
      <p:sp>
        <p:nvSpPr>
          <p:cNvPr id="15" name="TextBox 14"/>
          <p:cNvSpPr txBox="1"/>
          <p:nvPr/>
        </p:nvSpPr>
        <p:spPr>
          <a:xfrm>
            <a:off x="1572768" y="2889504"/>
            <a:ext cx="2057400" cy="292608"/>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Chuẩn hóa tiếng Việt</a:t>
            </a:r>
          </a:p>
        </p:txBody>
      </p:sp>
      <p:sp>
        <p:nvSpPr>
          <p:cNvPr id="16" name="TextBox 15"/>
          <p:cNvSpPr txBox="1"/>
          <p:nvPr/>
        </p:nvSpPr>
        <p:spPr>
          <a:xfrm>
            <a:off x="3611880" y="2880360"/>
            <a:ext cx="4526280" cy="640080"/>
          </a:xfrm>
          <a:prstGeom prst="rect">
            <a:avLst/>
          </a:prstGeom>
          <a:noFill/>
        </p:spPr>
        <p:txBody>
          <a:bodyPr wrap="square" anchor="t" lIns="0" tIns="0" rIns="0" bIns="0">
            <a:spAutoFit/>
          </a:bodyPr>
          <a:lstStyle/>
          <a:p>
            <a:pPr algn="l">
              <a:lnSpc>
                <a:spcPct val="105000"/>
              </a:lnSpc>
              <a:spcBef>
                <a:spcPts val="0"/>
              </a:spcBef>
              <a:spcAft>
                <a:spcPts val="0"/>
              </a:spcAft>
            </a:pPr>
            <a:r>
              <a:rPr sz="1050" b="0" i="0">
                <a:solidFill>
                  <a:srgbClr val="526476"/>
                </a:solidFill>
                <a:latin typeface="Calibri"/>
              </a:rPr>
              <a:t>Nhận diện TCVN3 theo font và mẫu ký tự, chuyển sang Unicode chuẩn.</a:t>
            </a:r>
          </a:p>
        </p:txBody>
      </p:sp>
      <p:sp>
        <p:nvSpPr>
          <p:cNvPr id="17" name="Rounded Rectangle 16"/>
          <p:cNvSpPr/>
          <p:nvPr/>
        </p:nvSpPr>
        <p:spPr>
          <a:xfrm>
            <a:off x="685800" y="3785616"/>
            <a:ext cx="7635240" cy="87782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950208"/>
            <a:ext cx="566928" cy="502920"/>
          </a:xfrm>
          <a:prstGeom prst="rect">
            <a:avLst/>
          </a:prstGeom>
          <a:noFill/>
        </p:spPr>
        <p:txBody>
          <a:bodyPr wrap="square" anchor="t" lIns="0" tIns="0" rIns="0" bIns="0">
            <a:spAutoFit/>
          </a:bodyPr>
          <a:lstStyle/>
          <a:p>
            <a:pPr algn="l">
              <a:lnSpc>
                <a:spcPct val="100000"/>
              </a:lnSpc>
              <a:spcBef>
                <a:spcPts val="0"/>
              </a:spcBef>
              <a:spcAft>
                <a:spcPts val="0"/>
              </a:spcAft>
            </a:pPr>
            <a:r>
              <a:rPr sz="2100" b="1" i="0">
                <a:solidFill>
                  <a:srgbClr val="1769AA"/>
                </a:solidFill>
                <a:latin typeface="Calibri Light"/>
              </a:rPr>
              <a:t>03</a:t>
            </a:r>
          </a:p>
        </p:txBody>
      </p:sp>
      <p:sp>
        <p:nvSpPr>
          <p:cNvPr id="19" name="TextBox 18"/>
          <p:cNvSpPr txBox="1"/>
          <p:nvPr/>
        </p:nvSpPr>
        <p:spPr>
          <a:xfrm>
            <a:off x="1572768" y="3913632"/>
            <a:ext cx="2057400" cy="292608"/>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Xuất dữ liệu phẳng</a:t>
            </a:r>
          </a:p>
        </p:txBody>
      </p:sp>
      <p:sp>
        <p:nvSpPr>
          <p:cNvPr id="20" name="TextBox 19"/>
          <p:cNvSpPr txBox="1"/>
          <p:nvPr/>
        </p:nvSpPr>
        <p:spPr>
          <a:xfrm>
            <a:off x="3611880" y="3904488"/>
            <a:ext cx="4526280" cy="640080"/>
          </a:xfrm>
          <a:prstGeom prst="rect">
            <a:avLst/>
          </a:prstGeom>
          <a:noFill/>
        </p:spPr>
        <p:txBody>
          <a:bodyPr wrap="square" anchor="t" lIns="0" tIns="0" rIns="0" bIns="0">
            <a:spAutoFit/>
          </a:bodyPr>
          <a:lstStyle/>
          <a:p>
            <a:pPr algn="l">
              <a:lnSpc>
                <a:spcPct val="105000"/>
              </a:lnSpc>
              <a:spcBef>
                <a:spcPts val="0"/>
              </a:spcBef>
              <a:spcAft>
                <a:spcPts val="0"/>
              </a:spcAft>
            </a:pPr>
            <a:r>
              <a:rPr sz="1050" b="0" i="0">
                <a:solidFill>
                  <a:srgbClr val="526476"/>
                </a:solidFill>
                <a:latin typeface="Calibri"/>
              </a:rPr>
              <a:t>Mỗi sheet có dữ liệu → một CSV UTF-8, tên file_sheet, bỏ sheet rỗng.</a:t>
            </a:r>
          </a:p>
        </p:txBody>
      </p:sp>
      <p:sp>
        <p:nvSpPr>
          <p:cNvPr id="21" name="Rounded Rectangle 20"/>
          <p:cNvSpPr/>
          <p:nvPr/>
        </p:nvSpPr>
        <p:spPr>
          <a:xfrm>
            <a:off x="685800" y="4809744"/>
            <a:ext cx="7635240" cy="87782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974336"/>
            <a:ext cx="566928" cy="502920"/>
          </a:xfrm>
          <a:prstGeom prst="rect">
            <a:avLst/>
          </a:prstGeom>
          <a:noFill/>
        </p:spPr>
        <p:txBody>
          <a:bodyPr wrap="square" anchor="t" lIns="0" tIns="0" rIns="0" bIns="0">
            <a:spAutoFit/>
          </a:bodyPr>
          <a:lstStyle/>
          <a:p>
            <a:pPr algn="l">
              <a:lnSpc>
                <a:spcPct val="100000"/>
              </a:lnSpc>
              <a:spcBef>
                <a:spcPts val="0"/>
              </a:spcBef>
              <a:spcAft>
                <a:spcPts val="0"/>
              </a:spcAft>
            </a:pPr>
            <a:r>
              <a:rPr sz="2100" b="1" i="0">
                <a:solidFill>
                  <a:srgbClr val="1769AA"/>
                </a:solidFill>
                <a:latin typeface="Calibri Light"/>
              </a:rPr>
              <a:t>04</a:t>
            </a:r>
          </a:p>
        </p:txBody>
      </p:sp>
      <p:sp>
        <p:nvSpPr>
          <p:cNvPr id="23" name="TextBox 22"/>
          <p:cNvSpPr txBox="1"/>
          <p:nvPr/>
        </p:nvSpPr>
        <p:spPr>
          <a:xfrm>
            <a:off x="1572768" y="4937759"/>
            <a:ext cx="2057400" cy="292608"/>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Kiểm soát chất lượng</a:t>
            </a:r>
          </a:p>
        </p:txBody>
      </p:sp>
      <p:sp>
        <p:nvSpPr>
          <p:cNvPr id="24" name="TextBox 23"/>
          <p:cNvSpPr txBox="1"/>
          <p:nvPr/>
        </p:nvSpPr>
        <p:spPr>
          <a:xfrm>
            <a:off x="3611880" y="4928616"/>
            <a:ext cx="4526280" cy="640080"/>
          </a:xfrm>
          <a:prstGeom prst="rect">
            <a:avLst/>
          </a:prstGeom>
          <a:noFill/>
        </p:spPr>
        <p:txBody>
          <a:bodyPr wrap="square" anchor="t" lIns="0" tIns="0" rIns="0" bIns="0">
            <a:spAutoFit/>
          </a:bodyPr>
          <a:lstStyle/>
          <a:p>
            <a:pPr algn="l">
              <a:lnSpc>
                <a:spcPct val="105000"/>
              </a:lnSpc>
              <a:spcBef>
                <a:spcPts val="0"/>
              </a:spcBef>
              <a:spcAft>
                <a:spcPts val="0"/>
              </a:spcAft>
            </a:pPr>
            <a:r>
              <a:rPr sz="1050" b="0" i="0">
                <a:solidFill>
                  <a:srgbClr val="526476"/>
                </a:solidFill>
                <a:latin typeface="Calibri"/>
              </a:rPr>
              <a:t>Ghi nhận tệp lỗi, bảo đảm kết quả lặp lại và truy vết được nguồn.</a:t>
            </a:r>
          </a:p>
        </p:txBody>
      </p:sp>
      <p:sp>
        <p:nvSpPr>
          <p:cNvPr id="25" name="Rounded Rectangle 24"/>
          <p:cNvSpPr/>
          <p:nvPr/>
        </p:nvSpPr>
        <p:spPr>
          <a:xfrm>
            <a:off x="8613648" y="1737360"/>
            <a:ext cx="2971800" cy="3877056"/>
          </a:xfrm>
          <a:prstGeom prst="roundRect">
            <a:avLst>
              <a:gd name="adj" fmla="val 8000"/>
            </a:avLst>
          </a:prstGeom>
          <a:solidFill>
            <a:srgbClr val="0B2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51392" y="1938528"/>
            <a:ext cx="2514600" cy="274320"/>
          </a:xfrm>
          <a:prstGeom prst="rect">
            <a:avLst/>
          </a:prstGeom>
          <a:noFill/>
        </p:spPr>
        <p:txBody>
          <a:bodyPr wrap="square" anchor="t" lIns="0" tIns="0" rIns="0" bIns="0">
            <a:spAutoFit/>
          </a:bodyPr>
          <a:lstStyle/>
          <a:p>
            <a:pPr algn="l">
              <a:lnSpc>
                <a:spcPct val="100000"/>
              </a:lnSpc>
              <a:spcBef>
                <a:spcPts val="0"/>
              </a:spcBef>
              <a:spcAft>
                <a:spcPts val="0"/>
              </a:spcAft>
            </a:pPr>
            <a:r>
              <a:rPr sz="950" b="1" i="0" spc="80">
                <a:solidFill>
                  <a:srgbClr val="9CC8E8"/>
                </a:solidFill>
                <a:latin typeface="Calibri"/>
              </a:rPr>
              <a:t>KẾT QUẢ KỲ VỌNG</a:t>
            </a:r>
          </a:p>
        </p:txBody>
      </p:sp>
      <p:sp>
        <p:nvSpPr>
          <p:cNvPr id="27" name="TextBox 26"/>
          <p:cNvSpPr txBox="1"/>
          <p:nvPr/>
        </p:nvSpPr>
        <p:spPr>
          <a:xfrm>
            <a:off x="8851392" y="2331720"/>
            <a:ext cx="2487168" cy="1417320"/>
          </a:xfrm>
          <a:prstGeom prst="rect">
            <a:avLst/>
          </a:prstGeom>
          <a:noFill/>
        </p:spPr>
        <p:txBody>
          <a:bodyPr wrap="square" anchor="t" lIns="0" tIns="0" rIns="0" bIns="0">
            <a:spAutoFit/>
          </a:bodyPr>
          <a:lstStyle/>
          <a:p>
            <a:pPr algn="l">
              <a:lnSpc>
                <a:spcPct val="98000"/>
              </a:lnSpc>
              <a:spcBef>
                <a:spcPts val="0"/>
              </a:spcBef>
              <a:spcAft>
                <a:spcPts val="0"/>
              </a:spcAft>
            </a:pPr>
            <a:r>
              <a:rPr sz="2200" b="1" i="0">
                <a:solidFill>
                  <a:srgbClr val="FFFFFF"/>
                </a:solidFill>
                <a:latin typeface="Calibri Light"/>
              </a:rPr>
              <a:t>Một pipeline Python</a:t>
            </a:r>
          </a:p>
        </p:txBody>
      </p:sp>
      <p:sp>
        <p:nvSpPr>
          <p:cNvPr id="28" name="TextBox 27"/>
          <p:cNvSpPr txBox="1"/>
          <p:nvPr/>
        </p:nvSpPr>
        <p:spPr>
          <a:xfrm>
            <a:off x="8851392" y="3584448"/>
            <a:ext cx="2487168" cy="1325880"/>
          </a:xfrm>
          <a:prstGeom prst="rect">
            <a:avLst/>
          </a:prstGeom>
          <a:noFill/>
        </p:spPr>
        <p:txBody>
          <a:bodyPr wrap="square" anchor="t" lIns="0" tIns="0" rIns="0" bIns="0">
            <a:spAutoFit/>
          </a:bodyPr>
          <a:lstStyle/>
          <a:p>
            <a:pPr algn="l">
              <a:lnSpc>
                <a:spcPct val="115000"/>
              </a:lnSpc>
              <a:spcBef>
                <a:spcPts val="0"/>
              </a:spcBef>
              <a:spcAft>
                <a:spcPts val="0"/>
              </a:spcAft>
            </a:pPr>
            <a:r>
              <a:rPr sz="1150" b="0" i="0">
                <a:solidFill>
                  <a:srgbClr val="D7E7F3"/>
                </a:solidFill>
                <a:latin typeface="Calibri"/>
              </a:rPr>
              <a:t>có thể tái sử dụng, tạo tập dữ liệu sạch cho gắn nhãn và huấn luyện mô hình.</a:t>
            </a:r>
          </a:p>
        </p:txBody>
      </p:sp>
      <p:sp>
        <p:nvSpPr>
          <p:cNvPr id="29" name="Rounded Rectangle 28"/>
          <p:cNvSpPr/>
          <p:nvPr/>
        </p:nvSpPr>
        <p:spPr>
          <a:xfrm>
            <a:off x="8851392" y="4956048"/>
            <a:ext cx="502920"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2" name="TextBox 31"/>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166 tệp bảng tính từ nhiều hồ sơ khảo sát</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DỮ LIỆU ĐẦU VÀO</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19072"/>
            <a:ext cx="6656832" cy="4224528"/>
          </a:xfrm>
          <a:prstGeom prst="roundRect">
            <a:avLst>
              <a:gd name="adj" fmla="val 4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mage_005.png"/>
          <p:cNvPicPr>
            <a:picLocks noChangeAspect="1"/>
          </p:cNvPicPr>
          <p:nvPr/>
        </p:nvPicPr>
        <p:blipFill>
          <a:blip r:embed="rId4"/>
          <a:stretch>
            <a:fillRect/>
          </a:stretch>
        </p:blipFill>
        <p:spPr>
          <a:xfrm>
            <a:off x="786384" y="2232343"/>
            <a:ext cx="6400799" cy="2932808"/>
          </a:xfrm>
          <a:prstGeom prst="rect">
            <a:avLst/>
          </a:prstGeom>
          <a:effectLst/>
        </p:spPr>
      </p:pic>
      <p:sp>
        <p:nvSpPr>
          <p:cNvPr id="11" name="TextBox 10"/>
          <p:cNvSpPr txBox="1"/>
          <p:nvPr/>
        </p:nvSpPr>
        <p:spPr>
          <a:xfrm>
            <a:off x="786384" y="5632704"/>
            <a:ext cx="6400800" cy="228600"/>
          </a:xfrm>
          <a:prstGeom prst="rect">
            <a:avLst/>
          </a:prstGeom>
          <a:noFill/>
        </p:spPr>
        <p:txBody>
          <a:bodyPr wrap="square" anchor="t" lIns="0" tIns="0" rIns="0" bIns="0">
            <a:spAutoFit/>
          </a:bodyPr>
          <a:lstStyle/>
          <a:p>
            <a:pPr algn="l">
              <a:lnSpc>
                <a:spcPct val="100000"/>
              </a:lnSpc>
              <a:spcBef>
                <a:spcPts val="0"/>
              </a:spcBef>
              <a:spcAft>
                <a:spcPts val="0"/>
              </a:spcAft>
            </a:pPr>
            <a:r>
              <a:rPr sz="900" b="0" i="1">
                <a:solidFill>
                  <a:srgbClr val="8593A1"/>
                </a:solidFill>
                <a:latin typeface="Calibri"/>
              </a:rPr>
              <a:t>Hình 1. Thư mục dataXLSX với 166 tệp .xls / .xlsx</a:t>
            </a:r>
          </a:p>
        </p:txBody>
      </p:sp>
      <p:sp>
        <p:nvSpPr>
          <p:cNvPr id="12" name="Rounded Rectangle 11"/>
          <p:cNvSpPr/>
          <p:nvPr/>
        </p:nvSpPr>
        <p:spPr>
          <a:xfrm>
            <a:off x="7571231" y="1719072"/>
            <a:ext cx="4005072" cy="93268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54112" y="1828800"/>
            <a:ext cx="1417320" cy="621792"/>
          </a:xfrm>
          <a:prstGeom prst="rect">
            <a:avLst/>
          </a:prstGeom>
          <a:noFill/>
        </p:spPr>
        <p:txBody>
          <a:bodyPr wrap="square" anchor="t" lIns="0" tIns="0" rIns="0" bIns="0">
            <a:spAutoFit/>
          </a:bodyPr>
          <a:lstStyle/>
          <a:p>
            <a:pPr algn="l">
              <a:lnSpc>
                <a:spcPct val="100000"/>
              </a:lnSpc>
              <a:spcBef>
                <a:spcPts val="0"/>
              </a:spcBef>
              <a:spcAft>
                <a:spcPts val="0"/>
              </a:spcAft>
            </a:pPr>
            <a:r>
              <a:rPr sz="2700" b="1" i="0">
                <a:solidFill>
                  <a:srgbClr val="1769AA"/>
                </a:solidFill>
                <a:latin typeface="Calibri Light"/>
              </a:rPr>
              <a:t>166</a:t>
            </a:r>
          </a:p>
        </p:txBody>
      </p:sp>
      <p:sp>
        <p:nvSpPr>
          <p:cNvPr id="14" name="TextBox 13"/>
          <p:cNvSpPr txBox="1"/>
          <p:nvPr/>
        </p:nvSpPr>
        <p:spPr>
          <a:xfrm>
            <a:off x="9189720" y="1856231"/>
            <a:ext cx="2212848" cy="256032"/>
          </a:xfrm>
          <a:prstGeom prst="rect">
            <a:avLst/>
          </a:prstGeom>
          <a:noFill/>
        </p:spPr>
        <p:txBody>
          <a:bodyPr wrap="square" anchor="t" lIns="0" tIns="0" rIns="0" bIns="0">
            <a:spAutoFit/>
          </a:bodyPr>
          <a:lstStyle/>
          <a:p>
            <a:pPr algn="l">
              <a:lnSpc>
                <a:spcPct val="100000"/>
              </a:lnSpc>
              <a:spcBef>
                <a:spcPts val="0"/>
              </a:spcBef>
              <a:spcAft>
                <a:spcPts val="0"/>
              </a:spcAft>
            </a:pPr>
            <a:r>
              <a:rPr sz="950" b="1" i="0" spc="40">
                <a:solidFill>
                  <a:srgbClr val="0B2C4D"/>
                </a:solidFill>
                <a:latin typeface="Calibri"/>
              </a:rPr>
              <a:t>TỆP ĐẦU VÀO</a:t>
            </a:r>
          </a:p>
        </p:txBody>
      </p:sp>
      <p:sp>
        <p:nvSpPr>
          <p:cNvPr id="15" name="TextBox 14"/>
          <p:cNvSpPr txBox="1"/>
          <p:nvPr/>
        </p:nvSpPr>
        <p:spPr>
          <a:xfrm>
            <a:off x="9189720" y="2167128"/>
            <a:ext cx="2212848" cy="384048"/>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158 .xlsx + 8 .xls</a:t>
            </a:r>
          </a:p>
        </p:txBody>
      </p:sp>
      <p:sp>
        <p:nvSpPr>
          <p:cNvPr id="16" name="Rounded Rectangle 15"/>
          <p:cNvSpPr/>
          <p:nvPr/>
        </p:nvSpPr>
        <p:spPr>
          <a:xfrm>
            <a:off x="7571231" y="2816352"/>
            <a:ext cx="4005072" cy="93268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54112" y="2926080"/>
            <a:ext cx="1417320" cy="621792"/>
          </a:xfrm>
          <a:prstGeom prst="rect">
            <a:avLst/>
          </a:prstGeom>
          <a:noFill/>
        </p:spPr>
        <p:txBody>
          <a:bodyPr wrap="square" anchor="t" lIns="0" tIns="0" rIns="0" bIns="0">
            <a:spAutoFit/>
          </a:bodyPr>
          <a:lstStyle/>
          <a:p>
            <a:pPr algn="l">
              <a:lnSpc>
                <a:spcPct val="100000"/>
              </a:lnSpc>
              <a:spcBef>
                <a:spcPts val="0"/>
              </a:spcBef>
              <a:spcAft>
                <a:spcPts val="0"/>
              </a:spcAft>
            </a:pPr>
            <a:r>
              <a:rPr sz="2700" b="1" i="0">
                <a:solidFill>
                  <a:srgbClr val="5FA83C"/>
                </a:solidFill>
                <a:latin typeface="Calibri Light"/>
              </a:rPr>
              <a:t>963</a:t>
            </a:r>
          </a:p>
        </p:txBody>
      </p:sp>
      <p:sp>
        <p:nvSpPr>
          <p:cNvPr id="18" name="TextBox 17"/>
          <p:cNvSpPr txBox="1"/>
          <p:nvPr/>
        </p:nvSpPr>
        <p:spPr>
          <a:xfrm>
            <a:off x="9189720" y="2953512"/>
            <a:ext cx="2212848" cy="256032"/>
          </a:xfrm>
          <a:prstGeom prst="rect">
            <a:avLst/>
          </a:prstGeom>
          <a:noFill/>
        </p:spPr>
        <p:txBody>
          <a:bodyPr wrap="square" anchor="t" lIns="0" tIns="0" rIns="0" bIns="0">
            <a:spAutoFit/>
          </a:bodyPr>
          <a:lstStyle/>
          <a:p>
            <a:pPr algn="l">
              <a:lnSpc>
                <a:spcPct val="100000"/>
              </a:lnSpc>
              <a:spcBef>
                <a:spcPts val="0"/>
              </a:spcBef>
              <a:spcAft>
                <a:spcPts val="0"/>
              </a:spcAft>
            </a:pPr>
            <a:r>
              <a:rPr sz="950" b="1" i="0" spc="40">
                <a:solidFill>
                  <a:srgbClr val="0B2C4D"/>
                </a:solidFill>
                <a:latin typeface="Calibri"/>
              </a:rPr>
              <a:t>SHEET CÓ DỮ LIỆU</a:t>
            </a:r>
          </a:p>
        </p:txBody>
      </p:sp>
      <p:sp>
        <p:nvSpPr>
          <p:cNvPr id="19" name="TextBox 18"/>
          <p:cNvSpPr txBox="1"/>
          <p:nvPr/>
        </p:nvSpPr>
        <p:spPr>
          <a:xfrm>
            <a:off x="9189720" y="3264408"/>
            <a:ext cx="2212848" cy="384048"/>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sau khi loại sheet rỗng</a:t>
            </a:r>
          </a:p>
        </p:txBody>
      </p:sp>
      <p:sp>
        <p:nvSpPr>
          <p:cNvPr id="20" name="Rounded Rectangle 19"/>
          <p:cNvSpPr/>
          <p:nvPr/>
        </p:nvSpPr>
        <p:spPr>
          <a:xfrm>
            <a:off x="7571231" y="3913631"/>
            <a:ext cx="4005072" cy="93268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54112" y="4023359"/>
            <a:ext cx="1417320" cy="621792"/>
          </a:xfrm>
          <a:prstGeom prst="rect">
            <a:avLst/>
          </a:prstGeom>
          <a:noFill/>
        </p:spPr>
        <p:txBody>
          <a:bodyPr wrap="square" anchor="t" lIns="0" tIns="0" rIns="0" bIns="0">
            <a:spAutoFit/>
          </a:bodyPr>
          <a:lstStyle/>
          <a:p>
            <a:pPr algn="l">
              <a:lnSpc>
                <a:spcPct val="100000"/>
              </a:lnSpc>
              <a:spcBef>
                <a:spcPts val="0"/>
              </a:spcBef>
              <a:spcAft>
                <a:spcPts val="0"/>
              </a:spcAft>
            </a:pPr>
            <a:r>
              <a:rPr sz="2700" b="1" i="0">
                <a:solidFill>
                  <a:srgbClr val="E8891C"/>
                </a:solidFill>
                <a:latin typeface="Calibri Light"/>
              </a:rPr>
              <a:t>20.532</a:t>
            </a:r>
          </a:p>
        </p:txBody>
      </p:sp>
      <p:sp>
        <p:nvSpPr>
          <p:cNvPr id="22" name="TextBox 21"/>
          <p:cNvSpPr txBox="1"/>
          <p:nvPr/>
        </p:nvSpPr>
        <p:spPr>
          <a:xfrm>
            <a:off x="9189720" y="4050791"/>
            <a:ext cx="2212848" cy="256032"/>
          </a:xfrm>
          <a:prstGeom prst="rect">
            <a:avLst/>
          </a:prstGeom>
          <a:noFill/>
        </p:spPr>
        <p:txBody>
          <a:bodyPr wrap="square" anchor="t" lIns="0" tIns="0" rIns="0" bIns="0">
            <a:spAutoFit/>
          </a:bodyPr>
          <a:lstStyle/>
          <a:p>
            <a:pPr algn="l">
              <a:lnSpc>
                <a:spcPct val="100000"/>
              </a:lnSpc>
              <a:spcBef>
                <a:spcPts val="0"/>
              </a:spcBef>
              <a:spcAft>
                <a:spcPts val="0"/>
              </a:spcAft>
            </a:pPr>
            <a:r>
              <a:rPr sz="950" b="1" i="0" spc="40">
                <a:solidFill>
                  <a:srgbClr val="0B2C4D"/>
                </a:solidFill>
                <a:latin typeface="Calibri"/>
              </a:rPr>
              <a:t>MẪU HỢP LỆ</a:t>
            </a:r>
          </a:p>
        </p:txBody>
      </p:sp>
      <p:sp>
        <p:nvSpPr>
          <p:cNvPr id="23" name="TextBox 22"/>
          <p:cNvSpPr txBox="1"/>
          <p:nvPr/>
        </p:nvSpPr>
        <p:spPr>
          <a:xfrm>
            <a:off x="9189720" y="4361688"/>
            <a:ext cx="2212848" cy="384048"/>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dùng làm đầu vào huấn luyện</a:t>
            </a:r>
          </a:p>
        </p:txBody>
      </p:sp>
      <p:sp>
        <p:nvSpPr>
          <p:cNvPr id="24" name="TextBox 23"/>
          <p:cNvSpPr txBox="1"/>
          <p:nvPr/>
        </p:nvSpPr>
        <p:spPr>
          <a:xfrm>
            <a:off x="7589520" y="5138928"/>
            <a:ext cx="3950208" cy="749808"/>
          </a:xfrm>
          <a:prstGeom prst="rect">
            <a:avLst/>
          </a:prstGeom>
          <a:noFill/>
        </p:spPr>
        <p:txBody>
          <a:bodyPr wrap="square" anchor="t" lIns="0" tIns="0" rIns="0" bIns="0">
            <a:spAutoFit/>
          </a:bodyPr>
          <a:lstStyle/>
          <a:p>
            <a:pPr algn="l">
              <a:lnSpc>
                <a:spcPct val="110000"/>
              </a:lnSpc>
              <a:spcBef>
                <a:spcPts val="0"/>
              </a:spcBef>
              <a:spcAft>
                <a:spcPts val="0"/>
              </a:spcAft>
            </a:pPr>
            <a:r>
              <a:rPr sz="1000" b="0" i="0">
                <a:solidFill>
                  <a:srgbClr val="526476"/>
                </a:solidFill>
                <a:latin typeface="Calibri"/>
              </a:rPr>
              <a:t>Nguồn: hồ sơ khảo sát địa kỹ thuật, thí nghiệm đất của nhiều công trình; nhiều văn bản gốc dùng bảng mã TCVN3.</a:t>
            </a:r>
          </a:p>
        </p:txBody>
      </p:sp>
      <p:cxnSp>
        <p:nvCxnSpPr>
          <p:cNvPr id="25" name="Connector 24"/>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27" name="TextBox 26"/>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300" b="1">
                <a:solidFill>
                  <a:srgbClr val="0B2C4D"/>
                </a:solidFill>
                <a:latin typeface="Calibri"/>
              </a:rPr>
              <a:t>TCVN3 không phải Unicode: cần ánh xạ tường minh</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CƠ SỞ LÝ THUYẾT</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1700784"/>
            <a:ext cx="5074920" cy="292608"/>
          </a:xfrm>
          <a:prstGeom prst="rect">
            <a:avLst/>
          </a:prstGeom>
          <a:noFill/>
        </p:spPr>
        <p:txBody>
          <a:bodyPr wrap="square" anchor="t" lIns="0" tIns="0" rIns="0" bIns="0">
            <a:spAutoFit/>
          </a:bodyPr>
          <a:lstStyle/>
          <a:p>
            <a:pPr algn="l">
              <a:lnSpc>
                <a:spcPct val="100000"/>
              </a:lnSpc>
              <a:spcBef>
                <a:spcPts val="0"/>
              </a:spcBef>
              <a:spcAft>
                <a:spcPts val="0"/>
              </a:spcAft>
            </a:pPr>
            <a:r>
              <a:rPr sz="950" b="1" i="0" spc="80">
                <a:solidFill>
                  <a:srgbClr val="1769AA"/>
                </a:solidFill>
                <a:latin typeface="Calibri"/>
              </a:rPr>
              <a:t>VẤN ĐỀ</a:t>
            </a:r>
          </a:p>
        </p:txBody>
      </p:sp>
      <p:sp>
        <p:nvSpPr>
          <p:cNvPr id="10" name="TextBox 9"/>
          <p:cNvSpPr txBox="1"/>
          <p:nvPr/>
        </p:nvSpPr>
        <p:spPr>
          <a:xfrm>
            <a:off x="685800" y="1993392"/>
            <a:ext cx="4983480" cy="1463040"/>
          </a:xfrm>
          <a:prstGeom prst="rect">
            <a:avLst/>
          </a:prstGeom>
          <a:noFill/>
        </p:spPr>
        <p:txBody>
          <a:bodyPr wrap="square" anchor="t" lIns="0" tIns="0" rIns="0" bIns="0">
            <a:spAutoFit/>
          </a:bodyPr>
          <a:lstStyle/>
          <a:p>
            <a:pPr algn="l">
              <a:lnSpc>
                <a:spcPct val="115000"/>
              </a:lnSpc>
              <a:spcBef>
                <a:spcPts val="0"/>
              </a:spcBef>
              <a:spcAft>
                <a:spcPts val="0"/>
              </a:spcAft>
            </a:pPr>
            <a:r>
              <a:rPr sz="1300" b="0" i="0">
                <a:solidFill>
                  <a:srgbClr val="526476"/>
                </a:solidFill>
                <a:latin typeface="Calibri"/>
              </a:rPr>
              <a:t>Cùng một chuỗi tiếng Việt, TCVN3 lưu bằng các ký tự Latin / ký hiệu khác Unicode. Nếu chỉ đọc–ghi mà không chuyển mã, dấu tiếng Việt sẽ sai hoặc mất.</a:t>
            </a:r>
          </a:p>
        </p:txBody>
      </p:sp>
      <p:sp>
        <p:nvSpPr>
          <p:cNvPr id="11" name="Rounded Rectangle 10"/>
          <p:cNvSpPr/>
          <p:nvPr/>
        </p:nvSpPr>
        <p:spPr>
          <a:xfrm>
            <a:off x="685800" y="3401568"/>
            <a:ext cx="5074920" cy="658368"/>
          </a:xfrm>
          <a:prstGeom prst="roundRect">
            <a:avLst>
              <a:gd name="adj" fmla="val 8000"/>
            </a:avLst>
          </a:prstGeom>
          <a:solidFill>
            <a:srgbClr val="FD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493008"/>
            <a:ext cx="4709160" cy="274320"/>
          </a:xfrm>
          <a:prstGeom prst="rect">
            <a:avLst/>
          </a:prstGeom>
          <a:noFill/>
        </p:spPr>
        <p:txBody>
          <a:bodyPr wrap="square" anchor="t" lIns="0" tIns="0" rIns="0" bIns="0">
            <a:spAutoFit/>
          </a:bodyPr>
          <a:lstStyle/>
          <a:p>
            <a:pPr algn="l">
              <a:lnSpc>
                <a:spcPct val="100000"/>
              </a:lnSpc>
              <a:spcBef>
                <a:spcPts val="0"/>
              </a:spcBef>
              <a:spcAft>
                <a:spcPts val="0"/>
              </a:spcAft>
            </a:pPr>
            <a:r>
              <a:rPr sz="900" b="1" i="0" spc="50">
                <a:solidFill>
                  <a:srgbClr val="E8891C"/>
                </a:solidFill>
                <a:latin typeface="Calibri"/>
              </a:rPr>
              <a:t>TCVN3</a:t>
            </a:r>
          </a:p>
        </p:txBody>
      </p:sp>
      <p:sp>
        <p:nvSpPr>
          <p:cNvPr id="13" name="TextBox 12"/>
          <p:cNvSpPr txBox="1"/>
          <p:nvPr/>
        </p:nvSpPr>
        <p:spPr>
          <a:xfrm>
            <a:off x="868680" y="3703320"/>
            <a:ext cx="4709160" cy="274320"/>
          </a:xfrm>
          <a:prstGeom prst="rect">
            <a:avLst/>
          </a:prstGeom>
          <a:noFill/>
        </p:spPr>
        <p:txBody>
          <a:bodyPr wrap="square" anchor="t" lIns="0" tIns="0" rIns="0" bIns="0">
            <a:spAutoFit/>
          </a:bodyPr>
          <a:lstStyle/>
          <a:p>
            <a:pPr algn="l">
              <a:lnSpc>
                <a:spcPct val="100000"/>
              </a:lnSpc>
              <a:spcBef>
                <a:spcPts val="0"/>
              </a:spcBef>
              <a:spcAft>
                <a:spcPts val="0"/>
              </a:spcAft>
            </a:pPr>
            <a:r>
              <a:rPr sz="1200" b="0" i="0">
                <a:solidFill>
                  <a:srgbClr val="0B2C4D"/>
                </a:solidFill>
                <a:latin typeface="Calibri"/>
              </a:rPr>
              <a:t>b¸o c¸o kÕt qu¶ thÝ nghiÖm ®Êt</a:t>
            </a:r>
          </a:p>
        </p:txBody>
      </p:sp>
      <p:sp>
        <p:nvSpPr>
          <p:cNvPr id="14" name="Rounded Rectangle 13"/>
          <p:cNvSpPr/>
          <p:nvPr/>
        </p:nvSpPr>
        <p:spPr>
          <a:xfrm>
            <a:off x="685800" y="4224528"/>
            <a:ext cx="5074920" cy="658368"/>
          </a:xfrm>
          <a:prstGeom prst="roundRect">
            <a:avLst>
              <a:gd name="adj" fmla="val 8000"/>
            </a:avLst>
          </a:prstGeom>
          <a:solidFill>
            <a:srgbClr val="EC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4315968"/>
            <a:ext cx="4709160" cy="274320"/>
          </a:xfrm>
          <a:prstGeom prst="rect">
            <a:avLst/>
          </a:prstGeom>
          <a:noFill/>
        </p:spPr>
        <p:txBody>
          <a:bodyPr wrap="square" anchor="t" lIns="0" tIns="0" rIns="0" bIns="0">
            <a:spAutoFit/>
          </a:bodyPr>
          <a:lstStyle/>
          <a:p>
            <a:pPr algn="l">
              <a:lnSpc>
                <a:spcPct val="100000"/>
              </a:lnSpc>
              <a:spcBef>
                <a:spcPts val="0"/>
              </a:spcBef>
              <a:spcAft>
                <a:spcPts val="0"/>
              </a:spcAft>
            </a:pPr>
            <a:r>
              <a:rPr sz="900" b="1" i="0" spc="50">
                <a:solidFill>
                  <a:srgbClr val="3F7D28"/>
                </a:solidFill>
                <a:latin typeface="Calibri"/>
              </a:rPr>
              <a:t>UNICODE</a:t>
            </a:r>
          </a:p>
        </p:txBody>
      </p:sp>
      <p:sp>
        <p:nvSpPr>
          <p:cNvPr id="16" name="TextBox 15"/>
          <p:cNvSpPr txBox="1"/>
          <p:nvPr/>
        </p:nvSpPr>
        <p:spPr>
          <a:xfrm>
            <a:off x="868680" y="4526280"/>
            <a:ext cx="4709160"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0B2C4D"/>
                </a:solidFill>
                <a:latin typeface="Calibri"/>
              </a:rPr>
              <a:t>báo cáo kết quả thí nghiệm đất</a:t>
            </a:r>
          </a:p>
        </p:txBody>
      </p:sp>
      <p:sp>
        <p:nvSpPr>
          <p:cNvPr id="17" name="TextBox 16"/>
          <p:cNvSpPr txBox="1"/>
          <p:nvPr/>
        </p:nvSpPr>
        <p:spPr>
          <a:xfrm>
            <a:off x="685800" y="5138928"/>
            <a:ext cx="5074920" cy="640080"/>
          </a:xfrm>
          <a:prstGeom prst="rect">
            <a:avLst/>
          </a:prstGeom>
          <a:noFill/>
        </p:spPr>
        <p:txBody>
          <a:bodyPr wrap="square" anchor="t" lIns="0" tIns="0" rIns="0" bIns="0">
            <a:spAutoFit/>
          </a:bodyPr>
          <a:lstStyle/>
          <a:p>
            <a:pPr algn="l">
              <a:lnSpc>
                <a:spcPct val="108000"/>
              </a:lnSpc>
              <a:spcBef>
                <a:spcPts val="0"/>
              </a:spcBef>
              <a:spcAft>
                <a:spcPts val="0"/>
              </a:spcAft>
            </a:pPr>
            <a:r>
              <a:rPr sz="1000" b="0" i="1">
                <a:solidFill>
                  <a:srgbClr val="526476"/>
                </a:solidFill>
                <a:latin typeface="Calibri"/>
              </a:rPr>
              <a:t>Chuyển đổi một chiều: thứ tự ánh xạ là kinh nghiệm thực tế, không phải thứ tự alphabet.</a:t>
            </a:r>
          </a:p>
        </p:txBody>
      </p:sp>
      <p:sp>
        <p:nvSpPr>
          <p:cNvPr id="18" name="Rounded Rectangle 17"/>
          <p:cNvSpPr/>
          <p:nvPr/>
        </p:nvSpPr>
        <p:spPr>
          <a:xfrm>
            <a:off x="6053328" y="1700784"/>
            <a:ext cx="5532120" cy="2157984"/>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54496" y="1810512"/>
            <a:ext cx="512064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40">
                <a:solidFill>
                  <a:srgbClr val="8FB6D9"/>
                </a:solidFill>
                <a:latin typeface="Consolas"/>
              </a:rPr>
              <a:t>BẢNG ÁNH XẠ VIETKEY (TRÍCH)</a:t>
            </a:r>
          </a:p>
        </p:txBody>
      </p:sp>
      <p:sp>
        <p:nvSpPr>
          <p:cNvPr id="20" name="Rounded Rectangle 19"/>
          <p:cNvSpPr/>
          <p:nvPr/>
        </p:nvSpPr>
        <p:spPr>
          <a:xfrm>
            <a:off x="6217920" y="2084831"/>
            <a:ext cx="5212080" cy="1664208"/>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19088" y="2249424"/>
            <a:ext cx="4846320" cy="1389888"/>
          </a:xfrm>
          <a:prstGeom prst="rect">
            <a:avLst/>
          </a:prstGeom>
          <a:noFill/>
        </p:spPr>
        <p:txBody>
          <a:bodyPr wrap="square" anchor="t" lIns="0" tIns="0" rIns="0" bIns="0">
            <a:spAutoFit/>
          </a:bodyPr>
          <a:lstStyle/>
          <a:p>
            <a:pPr algn="l">
              <a:lnSpc>
                <a:spcPct val="112000"/>
              </a:lnSpc>
              <a:spcBef>
                <a:spcPts val="0"/>
              </a:spcBef>
              <a:spcAft>
                <a:spcPts val="100"/>
              </a:spcAft>
            </a:pPr>
            <a:r>
              <a:rPr sz="1050" b="0" i="0">
                <a:solidFill>
                  <a:srgbClr val="DCE9F5"/>
                </a:solidFill>
                <a:latin typeface="Consolas"/>
              </a:rPr>
              <a:t>("Aµ", "À"),   ("A¸", "Á"),   ("¢", "Â"),</a:t>
            </a:r>
          </a:p>
          <a:p>
            <a:pPr algn="l">
              <a:lnSpc>
                <a:spcPct val="112000"/>
              </a:lnSpc>
              <a:spcBef>
                <a:spcPts val="0"/>
              </a:spcBef>
              <a:spcAft>
                <a:spcPts val="100"/>
              </a:spcAft>
            </a:pPr>
            <a:r>
              <a:rPr sz="1050" b="0" i="0">
                <a:solidFill>
                  <a:srgbClr val="DCE9F5"/>
                </a:solidFill>
                <a:latin typeface="Consolas"/>
              </a:rPr>
              <a:t>("EÌ", "È"),   ("EÐ", "É"),   ("£", "Ê"),</a:t>
            </a:r>
          </a:p>
          <a:p>
            <a:pPr algn="l">
              <a:lnSpc>
                <a:spcPct val="112000"/>
              </a:lnSpc>
              <a:spcBef>
                <a:spcPts val="0"/>
              </a:spcBef>
              <a:spcAft>
                <a:spcPts val="100"/>
              </a:spcAft>
            </a:pPr>
            <a:r>
              <a:rPr sz="1050" b="0" i="0">
                <a:solidFill>
                  <a:srgbClr val="DCE9F5"/>
                </a:solidFill>
                <a:latin typeface="Consolas"/>
              </a:rPr>
              <a:t>("µ", "à"),    ("¸", "á"),    ("©", "â"),</a:t>
            </a:r>
          </a:p>
          <a:p>
            <a:pPr algn="l">
              <a:lnSpc>
                <a:spcPct val="112000"/>
              </a:lnSpc>
              <a:spcBef>
                <a:spcPts val="0"/>
              </a:spcBef>
              <a:spcAft>
                <a:spcPts val="100"/>
              </a:spcAft>
            </a:pPr>
            <a:r>
              <a:rPr sz="1050" b="0" i="0">
                <a:solidFill>
                  <a:srgbClr val="DCE9F5"/>
                </a:solidFill>
                <a:latin typeface="Consolas"/>
              </a:rPr>
              <a:t>("¡", "Ă"),    ("§", "Đ"),    ("¥", "Ơ"),</a:t>
            </a:r>
          </a:p>
          <a:p>
            <a:pPr algn="l">
              <a:lnSpc>
                <a:spcPct val="112000"/>
              </a:lnSpc>
              <a:spcBef>
                <a:spcPts val="0"/>
              </a:spcBef>
              <a:spcAft>
                <a:spcPts val="100"/>
              </a:spcAft>
            </a:pPr>
            <a:r>
              <a:rPr sz="1050" b="0" i="0">
                <a:solidFill>
                  <a:srgbClr val="DCE9F5"/>
                </a:solidFill>
                <a:latin typeface="Consolas"/>
              </a:rPr>
              <a:t>("I×", "Ì"),   ("IÝ", "Í"),   ("Oß", "Ò"),</a:t>
            </a:r>
          </a:p>
          <a:p>
            <a:pPr algn="l">
              <a:lnSpc>
                <a:spcPct val="112000"/>
              </a:lnSpc>
              <a:spcBef>
                <a:spcPts val="0"/>
              </a:spcBef>
              <a:spcAft>
                <a:spcPts val="100"/>
              </a:spcAft>
            </a:pPr>
            <a:r>
              <a:rPr sz="1050" b="0" i="0">
                <a:solidFill>
                  <a:srgbClr val="DCE9F5"/>
                </a:solidFill>
                <a:latin typeface="Consolas"/>
              </a:rPr>
              <a:t>("Oã", "Ó"),   ("Uï", "Ù"),   ("Uó", "Ú"),</a:t>
            </a:r>
          </a:p>
          <a:p>
            <a:pPr algn="l">
              <a:lnSpc>
                <a:spcPct val="112000"/>
              </a:lnSpc>
              <a:spcBef>
                <a:spcPts val="0"/>
              </a:spcBef>
              <a:spcAft>
                <a:spcPts val="100"/>
              </a:spcAft>
            </a:pPr>
            <a:r>
              <a:rPr sz="1050" b="0" i="0">
                <a:solidFill>
                  <a:srgbClr val="DCE9F5"/>
                </a:solidFill>
                <a:latin typeface="Consolas"/>
              </a:rPr>
              <a:t>("Yý", "Ý"),   ("¦", "Ư"),    ("¨", "ă"),</a:t>
            </a:r>
          </a:p>
          <a:p>
            <a:pPr algn="l">
              <a:lnSpc>
                <a:spcPct val="112000"/>
              </a:lnSpc>
              <a:spcBef>
                <a:spcPts val="0"/>
              </a:spcBef>
              <a:spcAft>
                <a:spcPts val="100"/>
              </a:spcAft>
            </a:pPr>
            <a:r>
              <a:rPr sz="1050" b="0" i="0">
                <a:solidFill>
                  <a:srgbClr val="DCE9F5"/>
                </a:solidFill>
                <a:latin typeface="Consolas"/>
              </a:rPr>
              <a:t>("Ê", "ấ"),    ("Ç", "ầ"),    ("è", "ố"),</a:t>
            </a:r>
          </a:p>
        </p:txBody>
      </p:sp>
      <p:pic>
        <p:nvPicPr>
          <p:cNvPr id="22" name="Picture 21" descr="image_003.png"/>
          <p:cNvPicPr>
            <a:picLocks noChangeAspect="1"/>
          </p:cNvPicPr>
          <p:nvPr/>
        </p:nvPicPr>
        <p:blipFill>
          <a:blip r:embed="rId4"/>
          <a:stretch>
            <a:fillRect/>
          </a:stretch>
        </p:blipFill>
        <p:spPr>
          <a:xfrm>
            <a:off x="6080760" y="3970653"/>
            <a:ext cx="5468112" cy="1376429"/>
          </a:xfrm>
          <a:prstGeom prst="rect">
            <a:avLst/>
          </a:prstGeom>
          <a:effectLst/>
        </p:spPr>
      </p:pic>
      <p:sp>
        <p:nvSpPr>
          <p:cNvPr id="23" name="TextBox 22"/>
          <p:cNvSpPr txBox="1"/>
          <p:nvPr/>
        </p:nvSpPr>
        <p:spPr>
          <a:xfrm>
            <a:off x="6080760" y="5422392"/>
            <a:ext cx="5468112" cy="256032"/>
          </a:xfrm>
          <a:prstGeom prst="rect">
            <a:avLst/>
          </a:prstGeom>
          <a:noFill/>
        </p:spPr>
        <p:txBody>
          <a:bodyPr wrap="square" anchor="t" lIns="0" tIns="0" rIns="0" bIns="0">
            <a:spAutoFit/>
          </a:bodyPr>
          <a:lstStyle/>
          <a:p>
            <a:pPr algn="l">
              <a:lnSpc>
                <a:spcPct val="100000"/>
              </a:lnSpc>
              <a:spcBef>
                <a:spcPts val="0"/>
              </a:spcBef>
              <a:spcAft>
                <a:spcPts val="0"/>
              </a:spcAft>
            </a:pPr>
            <a:r>
              <a:rPr sz="900" b="0" i="1">
                <a:solidFill>
                  <a:srgbClr val="8593A1"/>
                </a:solidFill>
                <a:latin typeface="Calibri"/>
              </a:rPr>
              <a:t>Hình 3. Trích đoạn bảng ánh xạ trong mã nguồn</a:t>
            </a:r>
          </a:p>
        </p:txBody>
      </p:sp>
      <p:cxnSp>
        <p:nvCxnSpPr>
          <p:cNvPr id="24" name="Connector 23"/>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26" name="TextBox 25"/>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Bốn bước logic, một vòng lặp kiểm chứng</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PHƯƠNG PHÁP</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1792" y="1783080"/>
            <a:ext cx="2633472" cy="333756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21792" y="1783080"/>
            <a:ext cx="2633472" cy="91440"/>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2029968"/>
            <a:ext cx="685800" cy="566928"/>
          </a:xfrm>
          <a:prstGeom prst="rect">
            <a:avLst/>
          </a:prstGeom>
          <a:noFill/>
        </p:spPr>
        <p:txBody>
          <a:bodyPr wrap="square" anchor="t" lIns="0" tIns="0" rIns="0" bIns="0">
            <a:spAutoFit/>
          </a:bodyPr>
          <a:lstStyle/>
          <a:p>
            <a:pPr algn="l">
              <a:lnSpc>
                <a:spcPct val="100000"/>
              </a:lnSpc>
              <a:spcBef>
                <a:spcPts val="0"/>
              </a:spcBef>
              <a:spcAft>
                <a:spcPts val="0"/>
              </a:spcAft>
            </a:pPr>
            <a:r>
              <a:rPr sz="2800" b="1" i="0">
                <a:solidFill>
                  <a:srgbClr val="1769AA"/>
                </a:solidFill>
                <a:latin typeface="Calibri Light"/>
              </a:rPr>
              <a:t>01</a:t>
            </a:r>
          </a:p>
        </p:txBody>
      </p:sp>
      <p:sp>
        <p:nvSpPr>
          <p:cNvPr id="12" name="TextBox 11"/>
          <p:cNvSpPr txBox="1"/>
          <p:nvPr/>
        </p:nvSpPr>
        <p:spPr>
          <a:xfrm>
            <a:off x="841248" y="2670048"/>
            <a:ext cx="2194560" cy="566928"/>
          </a:xfrm>
          <a:prstGeom prst="rect">
            <a:avLst/>
          </a:prstGeom>
          <a:noFill/>
        </p:spPr>
        <p:txBody>
          <a:bodyPr wrap="square" anchor="t" lIns="0" tIns="0" rIns="0" bIns="0">
            <a:spAutoFit/>
          </a:bodyPr>
          <a:lstStyle/>
          <a:p>
            <a:pPr algn="l">
              <a:lnSpc>
                <a:spcPct val="98000"/>
              </a:lnSpc>
              <a:spcBef>
                <a:spcPts val="0"/>
              </a:spcBef>
              <a:spcAft>
                <a:spcPts val="0"/>
              </a:spcAft>
            </a:pPr>
            <a:r>
              <a:rPr sz="1400" b="1" i="0">
                <a:solidFill>
                  <a:srgbClr val="0B2C4D"/>
                </a:solidFill>
                <a:latin typeface="Calibri"/>
              </a:rPr>
              <a:t>Thu thập dữ liệu</a:t>
            </a:r>
          </a:p>
        </p:txBody>
      </p:sp>
      <p:sp>
        <p:nvSpPr>
          <p:cNvPr id="13" name="TextBox 12"/>
          <p:cNvSpPr txBox="1"/>
          <p:nvPr/>
        </p:nvSpPr>
        <p:spPr>
          <a:xfrm>
            <a:off x="841248" y="3310128"/>
            <a:ext cx="2194560" cy="960120"/>
          </a:xfrm>
          <a:prstGeom prst="rect">
            <a:avLst/>
          </a:prstGeom>
          <a:noFill/>
        </p:spPr>
        <p:txBody>
          <a:bodyPr wrap="square" anchor="t" lIns="0" tIns="0" rIns="0" bIns="0">
            <a:spAutoFit/>
          </a:bodyPr>
          <a:lstStyle/>
          <a:p>
            <a:pPr algn="l">
              <a:lnSpc>
                <a:spcPct val="110000"/>
              </a:lnSpc>
              <a:spcBef>
                <a:spcPts val="0"/>
              </a:spcBef>
              <a:spcAft>
                <a:spcPts val="0"/>
              </a:spcAft>
            </a:pPr>
            <a:r>
              <a:rPr sz="1050" b="0" i="0">
                <a:solidFill>
                  <a:srgbClr val="526476"/>
                </a:solidFill>
                <a:latin typeface="Calibri"/>
              </a:rPr>
              <a:t>Quét toàn bộ .xls/.xlsx trong thư mục cấu hình; bỏ PDF, ảnh quét.</a:t>
            </a:r>
          </a:p>
        </p:txBody>
      </p:sp>
      <p:cxnSp>
        <p:nvCxnSpPr>
          <p:cNvPr id="14" name="Connector 13"/>
          <p:cNvCxnSpPr/>
          <p:nvPr/>
        </p:nvCxnSpPr>
        <p:spPr>
          <a:xfrm>
            <a:off x="841248" y="4370832"/>
            <a:ext cx="2194560"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1248" y="4498848"/>
            <a:ext cx="2194560" cy="274320"/>
          </a:xfrm>
          <a:prstGeom prst="rect">
            <a:avLst/>
          </a:prstGeom>
          <a:noFill/>
        </p:spPr>
        <p:txBody>
          <a:bodyPr wrap="square" anchor="t" lIns="0" tIns="0" rIns="0" bIns="0">
            <a:spAutoFit/>
          </a:bodyPr>
          <a:lstStyle/>
          <a:p>
            <a:pPr algn="l">
              <a:lnSpc>
                <a:spcPct val="100000"/>
              </a:lnSpc>
              <a:spcBef>
                <a:spcPts val="0"/>
              </a:spcBef>
              <a:spcAft>
                <a:spcPts val="0"/>
              </a:spcAft>
            </a:pPr>
            <a:r>
              <a:rPr sz="1000" b="1" i="0">
                <a:solidFill>
                  <a:srgbClr val="1769AA"/>
                </a:solidFill>
                <a:latin typeface="Calibri"/>
              </a:rPr>
              <a:t>→ danh sách tệp</a:t>
            </a:r>
          </a:p>
        </p:txBody>
      </p:sp>
      <p:sp>
        <p:nvSpPr>
          <p:cNvPr id="16" name="Rounded Rectangle 15"/>
          <p:cNvSpPr/>
          <p:nvPr/>
        </p:nvSpPr>
        <p:spPr>
          <a:xfrm>
            <a:off x="3456432" y="1783080"/>
            <a:ext cx="2633472" cy="333756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456432" y="1783080"/>
            <a:ext cx="2633472" cy="9144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75888" y="2029968"/>
            <a:ext cx="685800" cy="566928"/>
          </a:xfrm>
          <a:prstGeom prst="rect">
            <a:avLst/>
          </a:prstGeom>
          <a:noFill/>
        </p:spPr>
        <p:txBody>
          <a:bodyPr wrap="square" anchor="t" lIns="0" tIns="0" rIns="0" bIns="0">
            <a:spAutoFit/>
          </a:bodyPr>
          <a:lstStyle/>
          <a:p>
            <a:pPr algn="l">
              <a:lnSpc>
                <a:spcPct val="100000"/>
              </a:lnSpc>
              <a:spcBef>
                <a:spcPts val="0"/>
              </a:spcBef>
              <a:spcAft>
                <a:spcPts val="0"/>
              </a:spcAft>
            </a:pPr>
            <a:r>
              <a:rPr sz="2800" b="1" i="0">
                <a:solidFill>
                  <a:srgbClr val="5FA83C"/>
                </a:solidFill>
                <a:latin typeface="Calibri Light"/>
              </a:rPr>
              <a:t>02</a:t>
            </a:r>
          </a:p>
        </p:txBody>
      </p:sp>
      <p:sp>
        <p:nvSpPr>
          <p:cNvPr id="19" name="TextBox 18"/>
          <p:cNvSpPr txBox="1"/>
          <p:nvPr/>
        </p:nvSpPr>
        <p:spPr>
          <a:xfrm>
            <a:off x="3675888" y="2670048"/>
            <a:ext cx="2194560" cy="566928"/>
          </a:xfrm>
          <a:prstGeom prst="rect">
            <a:avLst/>
          </a:prstGeom>
          <a:noFill/>
        </p:spPr>
        <p:txBody>
          <a:bodyPr wrap="square" anchor="t" lIns="0" tIns="0" rIns="0" bIns="0">
            <a:spAutoFit/>
          </a:bodyPr>
          <a:lstStyle/>
          <a:p>
            <a:pPr algn="l">
              <a:lnSpc>
                <a:spcPct val="98000"/>
              </a:lnSpc>
              <a:spcBef>
                <a:spcPts val="0"/>
              </a:spcBef>
              <a:spcAft>
                <a:spcPts val="0"/>
              </a:spcAft>
            </a:pPr>
            <a:r>
              <a:rPr sz="1400" b="1" i="0">
                <a:solidFill>
                  <a:srgbClr val="0B2C4D"/>
                </a:solidFill>
                <a:latin typeface="Calibri"/>
              </a:rPr>
              <a:t>Phân tích dữ liệu</a:t>
            </a:r>
          </a:p>
        </p:txBody>
      </p:sp>
      <p:sp>
        <p:nvSpPr>
          <p:cNvPr id="20" name="TextBox 19"/>
          <p:cNvSpPr txBox="1"/>
          <p:nvPr/>
        </p:nvSpPr>
        <p:spPr>
          <a:xfrm>
            <a:off x="3675888" y="3310128"/>
            <a:ext cx="2194560" cy="960120"/>
          </a:xfrm>
          <a:prstGeom prst="rect">
            <a:avLst/>
          </a:prstGeom>
          <a:noFill/>
        </p:spPr>
        <p:txBody>
          <a:bodyPr wrap="square" anchor="t" lIns="0" tIns="0" rIns="0" bIns="0">
            <a:spAutoFit/>
          </a:bodyPr>
          <a:lstStyle/>
          <a:p>
            <a:pPr algn="l">
              <a:lnSpc>
                <a:spcPct val="110000"/>
              </a:lnSpc>
              <a:spcBef>
                <a:spcPts val="0"/>
              </a:spcBef>
              <a:spcAft>
                <a:spcPts val="0"/>
              </a:spcAft>
            </a:pPr>
            <a:r>
              <a:rPr sz="1050" b="0" i="0">
                <a:solidFill>
                  <a:srgbClr val="526476"/>
                </a:solidFill>
                <a:latin typeface="Calibri"/>
              </a:rPr>
              <a:t>Kiểm tra sheet, phạm vi ô, font TCVN3, sheet rỗng và tệp lỗi.</a:t>
            </a:r>
          </a:p>
        </p:txBody>
      </p:sp>
      <p:cxnSp>
        <p:nvCxnSpPr>
          <p:cNvPr id="21" name="Connector 20"/>
          <p:cNvCxnSpPr/>
          <p:nvPr/>
        </p:nvCxnSpPr>
        <p:spPr>
          <a:xfrm>
            <a:off x="3675888" y="4370832"/>
            <a:ext cx="2194560"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75888" y="4498848"/>
            <a:ext cx="2194560" cy="274320"/>
          </a:xfrm>
          <a:prstGeom prst="rect">
            <a:avLst/>
          </a:prstGeom>
          <a:noFill/>
        </p:spPr>
        <p:txBody>
          <a:bodyPr wrap="square" anchor="t" lIns="0" tIns="0" rIns="0" bIns="0">
            <a:spAutoFit/>
          </a:bodyPr>
          <a:lstStyle/>
          <a:p>
            <a:pPr algn="l">
              <a:lnSpc>
                <a:spcPct val="100000"/>
              </a:lnSpc>
              <a:spcBef>
                <a:spcPts val="0"/>
              </a:spcBef>
              <a:spcAft>
                <a:spcPts val="0"/>
              </a:spcAft>
            </a:pPr>
            <a:r>
              <a:rPr sz="1000" b="1" i="0">
                <a:solidFill>
                  <a:srgbClr val="5FA83C"/>
                </a:solidFill>
                <a:latin typeface="Calibri"/>
              </a:rPr>
              <a:t>→ workbook + font</a:t>
            </a:r>
          </a:p>
        </p:txBody>
      </p:sp>
      <p:sp>
        <p:nvSpPr>
          <p:cNvPr id="23" name="Rounded Rectangle 22"/>
          <p:cNvSpPr/>
          <p:nvPr/>
        </p:nvSpPr>
        <p:spPr>
          <a:xfrm>
            <a:off x="6291072" y="1783080"/>
            <a:ext cx="2633472" cy="333756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291072" y="1783080"/>
            <a:ext cx="2633472" cy="91440"/>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10528" y="2029968"/>
            <a:ext cx="685800" cy="566928"/>
          </a:xfrm>
          <a:prstGeom prst="rect">
            <a:avLst/>
          </a:prstGeom>
          <a:noFill/>
        </p:spPr>
        <p:txBody>
          <a:bodyPr wrap="square" anchor="t" lIns="0" tIns="0" rIns="0" bIns="0">
            <a:spAutoFit/>
          </a:bodyPr>
          <a:lstStyle/>
          <a:p>
            <a:pPr algn="l">
              <a:lnSpc>
                <a:spcPct val="100000"/>
              </a:lnSpc>
              <a:spcBef>
                <a:spcPts val="0"/>
              </a:spcBef>
              <a:spcAft>
                <a:spcPts val="0"/>
              </a:spcAft>
            </a:pPr>
            <a:r>
              <a:rPr sz="2800" b="1" i="0">
                <a:solidFill>
                  <a:srgbClr val="E8891C"/>
                </a:solidFill>
                <a:latin typeface="Calibri Light"/>
              </a:rPr>
              <a:t>03</a:t>
            </a:r>
          </a:p>
        </p:txBody>
      </p:sp>
      <p:sp>
        <p:nvSpPr>
          <p:cNvPr id="26" name="TextBox 25"/>
          <p:cNvSpPr txBox="1"/>
          <p:nvPr/>
        </p:nvSpPr>
        <p:spPr>
          <a:xfrm>
            <a:off x="6510528" y="2670048"/>
            <a:ext cx="2194560" cy="566928"/>
          </a:xfrm>
          <a:prstGeom prst="rect">
            <a:avLst/>
          </a:prstGeom>
          <a:noFill/>
        </p:spPr>
        <p:txBody>
          <a:bodyPr wrap="square" anchor="t" lIns="0" tIns="0" rIns="0" bIns="0">
            <a:spAutoFit/>
          </a:bodyPr>
          <a:lstStyle/>
          <a:p>
            <a:pPr algn="l">
              <a:lnSpc>
                <a:spcPct val="98000"/>
              </a:lnSpc>
              <a:spcBef>
                <a:spcPts val="0"/>
              </a:spcBef>
              <a:spcAft>
                <a:spcPts val="0"/>
              </a:spcAft>
            </a:pPr>
            <a:r>
              <a:rPr sz="1400" b="1" i="0">
                <a:solidFill>
                  <a:srgbClr val="0B2C4D"/>
                </a:solidFill>
                <a:latin typeface="Calibri"/>
              </a:rPr>
              <a:t>Lập trình xử lý</a:t>
            </a:r>
          </a:p>
        </p:txBody>
      </p:sp>
      <p:sp>
        <p:nvSpPr>
          <p:cNvPr id="27" name="TextBox 26"/>
          <p:cNvSpPr txBox="1"/>
          <p:nvPr/>
        </p:nvSpPr>
        <p:spPr>
          <a:xfrm>
            <a:off x="6510528" y="3310128"/>
            <a:ext cx="2194560" cy="960120"/>
          </a:xfrm>
          <a:prstGeom prst="rect">
            <a:avLst/>
          </a:prstGeom>
          <a:noFill/>
        </p:spPr>
        <p:txBody>
          <a:bodyPr wrap="square" anchor="t" lIns="0" tIns="0" rIns="0" bIns="0">
            <a:spAutoFit/>
          </a:bodyPr>
          <a:lstStyle/>
          <a:p>
            <a:pPr algn="l">
              <a:lnSpc>
                <a:spcPct val="110000"/>
              </a:lnSpc>
              <a:spcBef>
                <a:spcPts val="0"/>
              </a:spcBef>
              <a:spcAft>
                <a:spcPts val="0"/>
              </a:spcAft>
            </a:pPr>
            <a:r>
              <a:rPr sz="1050" b="0" i="0">
                <a:solidFill>
                  <a:srgbClr val="526476"/>
                </a:solidFill>
                <a:latin typeface="Calibri"/>
              </a:rPr>
              <a:t>Openpyxl / xlrd; chuyển mã 2 pha; xuất CSV UTF-8 có BOM.</a:t>
            </a:r>
          </a:p>
        </p:txBody>
      </p:sp>
      <p:cxnSp>
        <p:nvCxnSpPr>
          <p:cNvPr id="28" name="Connector 27"/>
          <p:cNvCxnSpPr/>
          <p:nvPr/>
        </p:nvCxnSpPr>
        <p:spPr>
          <a:xfrm>
            <a:off x="6510528" y="4370832"/>
            <a:ext cx="2194560"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10528" y="4498848"/>
            <a:ext cx="2194560" cy="274320"/>
          </a:xfrm>
          <a:prstGeom prst="rect">
            <a:avLst/>
          </a:prstGeom>
          <a:noFill/>
        </p:spPr>
        <p:txBody>
          <a:bodyPr wrap="square" anchor="t" lIns="0" tIns="0" rIns="0" bIns="0">
            <a:spAutoFit/>
          </a:bodyPr>
          <a:lstStyle/>
          <a:p>
            <a:pPr algn="l">
              <a:lnSpc>
                <a:spcPct val="100000"/>
              </a:lnSpc>
              <a:spcBef>
                <a:spcPts val="0"/>
              </a:spcBef>
              <a:spcAft>
                <a:spcPts val="0"/>
              </a:spcAft>
            </a:pPr>
            <a:r>
              <a:rPr sz="1000" b="1" i="0">
                <a:solidFill>
                  <a:srgbClr val="E8891C"/>
                </a:solidFill>
                <a:latin typeface="Calibri"/>
              </a:rPr>
              <a:t>→ CSV UTF-8</a:t>
            </a:r>
          </a:p>
        </p:txBody>
      </p:sp>
      <p:sp>
        <p:nvSpPr>
          <p:cNvPr id="30" name="Rounded Rectangle 29"/>
          <p:cNvSpPr/>
          <p:nvPr/>
        </p:nvSpPr>
        <p:spPr>
          <a:xfrm>
            <a:off x="9125712" y="1783080"/>
            <a:ext cx="2633472" cy="333756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125712" y="1783080"/>
            <a:ext cx="2633472" cy="91440"/>
          </a:xfrm>
          <a:prstGeom prst="roundRect">
            <a:avLst>
              <a:gd name="adj" fmla="val 0"/>
            </a:avLst>
          </a:prstGeom>
          <a:solidFill>
            <a:srgbClr val="105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345168" y="2029968"/>
            <a:ext cx="685800" cy="566928"/>
          </a:xfrm>
          <a:prstGeom prst="rect">
            <a:avLst/>
          </a:prstGeom>
          <a:noFill/>
        </p:spPr>
        <p:txBody>
          <a:bodyPr wrap="square" anchor="t" lIns="0" tIns="0" rIns="0" bIns="0">
            <a:spAutoFit/>
          </a:bodyPr>
          <a:lstStyle/>
          <a:p>
            <a:pPr algn="l">
              <a:lnSpc>
                <a:spcPct val="100000"/>
              </a:lnSpc>
              <a:spcBef>
                <a:spcPts val="0"/>
              </a:spcBef>
              <a:spcAft>
                <a:spcPts val="0"/>
              </a:spcAft>
            </a:pPr>
            <a:r>
              <a:rPr sz="2800" b="1" i="0">
                <a:solidFill>
                  <a:srgbClr val="10507F"/>
                </a:solidFill>
                <a:latin typeface="Calibri Light"/>
              </a:rPr>
              <a:t>04</a:t>
            </a:r>
          </a:p>
        </p:txBody>
      </p:sp>
      <p:sp>
        <p:nvSpPr>
          <p:cNvPr id="33" name="TextBox 32"/>
          <p:cNvSpPr txBox="1"/>
          <p:nvPr/>
        </p:nvSpPr>
        <p:spPr>
          <a:xfrm>
            <a:off x="9345168" y="2670048"/>
            <a:ext cx="2194560" cy="566928"/>
          </a:xfrm>
          <a:prstGeom prst="rect">
            <a:avLst/>
          </a:prstGeom>
          <a:noFill/>
        </p:spPr>
        <p:txBody>
          <a:bodyPr wrap="square" anchor="t" lIns="0" tIns="0" rIns="0" bIns="0">
            <a:spAutoFit/>
          </a:bodyPr>
          <a:lstStyle/>
          <a:p>
            <a:pPr algn="l">
              <a:lnSpc>
                <a:spcPct val="98000"/>
              </a:lnSpc>
              <a:spcBef>
                <a:spcPts val="0"/>
              </a:spcBef>
              <a:spcAft>
                <a:spcPts val="0"/>
              </a:spcAft>
            </a:pPr>
            <a:r>
              <a:rPr sz="1400" b="1" i="0">
                <a:solidFill>
                  <a:srgbClr val="0B2C4D"/>
                </a:solidFill>
                <a:latin typeface="Calibri"/>
              </a:rPr>
              <a:t>Kiểm chứng</a:t>
            </a:r>
          </a:p>
        </p:txBody>
      </p:sp>
      <p:sp>
        <p:nvSpPr>
          <p:cNvPr id="34" name="TextBox 33"/>
          <p:cNvSpPr txBox="1"/>
          <p:nvPr/>
        </p:nvSpPr>
        <p:spPr>
          <a:xfrm>
            <a:off x="9345168" y="3310128"/>
            <a:ext cx="2194560" cy="960120"/>
          </a:xfrm>
          <a:prstGeom prst="rect">
            <a:avLst/>
          </a:prstGeom>
          <a:noFill/>
        </p:spPr>
        <p:txBody>
          <a:bodyPr wrap="square" anchor="t" lIns="0" tIns="0" rIns="0" bIns="0">
            <a:spAutoFit/>
          </a:bodyPr>
          <a:lstStyle/>
          <a:p>
            <a:pPr algn="l">
              <a:lnSpc>
                <a:spcPct val="110000"/>
              </a:lnSpc>
              <a:spcBef>
                <a:spcPts val="0"/>
              </a:spcBef>
              <a:spcAft>
                <a:spcPts val="0"/>
              </a:spcAft>
            </a:pPr>
            <a:r>
              <a:rPr sz="1050" b="0" i="0">
                <a:solidFill>
                  <a:srgbClr val="526476"/>
                </a:solidFill>
                <a:latin typeface="Calibri"/>
              </a:rPr>
              <a:t>Đếm CSV, đối chiếu chuỗi ngẫu nhiên, chạy lặp lại trên cùng bộ dữ liệu.</a:t>
            </a:r>
          </a:p>
        </p:txBody>
      </p:sp>
      <p:cxnSp>
        <p:nvCxnSpPr>
          <p:cNvPr id="35" name="Connector 34"/>
          <p:cNvCxnSpPr/>
          <p:nvPr/>
        </p:nvCxnSpPr>
        <p:spPr>
          <a:xfrm>
            <a:off x="9345168" y="4370832"/>
            <a:ext cx="2194560"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345168" y="4498848"/>
            <a:ext cx="2194560" cy="274320"/>
          </a:xfrm>
          <a:prstGeom prst="rect">
            <a:avLst/>
          </a:prstGeom>
          <a:noFill/>
        </p:spPr>
        <p:txBody>
          <a:bodyPr wrap="square" anchor="t" lIns="0" tIns="0" rIns="0" bIns="0">
            <a:spAutoFit/>
          </a:bodyPr>
          <a:lstStyle/>
          <a:p>
            <a:pPr algn="l">
              <a:lnSpc>
                <a:spcPct val="100000"/>
              </a:lnSpc>
              <a:spcBef>
                <a:spcPts val="0"/>
              </a:spcBef>
              <a:spcAft>
                <a:spcPts val="0"/>
              </a:spcAft>
            </a:pPr>
            <a:r>
              <a:rPr sz="1000" b="1" i="0">
                <a:solidFill>
                  <a:srgbClr val="10507F"/>
                </a:solidFill>
                <a:latin typeface="Calibri"/>
              </a:rPr>
              <a:t>→ báo cáo OK/FAIL</a:t>
            </a:r>
          </a:p>
        </p:txBody>
      </p:sp>
      <p:sp>
        <p:nvSpPr>
          <p:cNvPr id="37" name="TextBox 36"/>
          <p:cNvSpPr txBox="1"/>
          <p:nvPr/>
        </p:nvSpPr>
        <p:spPr>
          <a:xfrm>
            <a:off x="3273552" y="3291840"/>
            <a:ext cx="164592" cy="365760"/>
          </a:xfrm>
          <a:prstGeom prst="rect">
            <a:avLst/>
          </a:prstGeom>
          <a:noFill/>
        </p:spPr>
        <p:txBody>
          <a:bodyPr wrap="square" anchor="t" lIns="0" tIns="0" rIns="0" bIns="0">
            <a:spAutoFit/>
          </a:bodyPr>
          <a:lstStyle/>
          <a:p>
            <a:pPr algn="ctr">
              <a:lnSpc>
                <a:spcPct val="100000"/>
              </a:lnSpc>
              <a:spcBef>
                <a:spcPts val="0"/>
              </a:spcBef>
              <a:spcAft>
                <a:spcPts val="0"/>
              </a:spcAft>
            </a:pPr>
            <a:r>
              <a:rPr sz="2400" b="1" i="0">
                <a:solidFill>
                  <a:srgbClr val="A8BFD3"/>
                </a:solidFill>
                <a:latin typeface="Calibri"/>
              </a:rPr>
              <a:t>›</a:t>
            </a:r>
          </a:p>
        </p:txBody>
      </p:sp>
      <p:sp>
        <p:nvSpPr>
          <p:cNvPr id="38" name="TextBox 37"/>
          <p:cNvSpPr txBox="1"/>
          <p:nvPr/>
        </p:nvSpPr>
        <p:spPr>
          <a:xfrm>
            <a:off x="6108192" y="3291840"/>
            <a:ext cx="164592" cy="365760"/>
          </a:xfrm>
          <a:prstGeom prst="rect">
            <a:avLst/>
          </a:prstGeom>
          <a:noFill/>
        </p:spPr>
        <p:txBody>
          <a:bodyPr wrap="square" anchor="t" lIns="0" tIns="0" rIns="0" bIns="0">
            <a:spAutoFit/>
          </a:bodyPr>
          <a:lstStyle/>
          <a:p>
            <a:pPr algn="ctr">
              <a:lnSpc>
                <a:spcPct val="100000"/>
              </a:lnSpc>
              <a:spcBef>
                <a:spcPts val="0"/>
              </a:spcBef>
              <a:spcAft>
                <a:spcPts val="0"/>
              </a:spcAft>
            </a:pPr>
            <a:r>
              <a:rPr sz="2400" b="1" i="0">
                <a:solidFill>
                  <a:srgbClr val="A8BFD3"/>
                </a:solidFill>
                <a:latin typeface="Calibri"/>
              </a:rPr>
              <a:t>›</a:t>
            </a:r>
          </a:p>
        </p:txBody>
      </p:sp>
      <p:sp>
        <p:nvSpPr>
          <p:cNvPr id="39" name="TextBox 38"/>
          <p:cNvSpPr txBox="1"/>
          <p:nvPr/>
        </p:nvSpPr>
        <p:spPr>
          <a:xfrm>
            <a:off x="8942832" y="3291840"/>
            <a:ext cx="164592" cy="365760"/>
          </a:xfrm>
          <a:prstGeom prst="rect">
            <a:avLst/>
          </a:prstGeom>
          <a:noFill/>
        </p:spPr>
        <p:txBody>
          <a:bodyPr wrap="square" anchor="t" lIns="0" tIns="0" rIns="0" bIns="0">
            <a:spAutoFit/>
          </a:bodyPr>
          <a:lstStyle/>
          <a:p>
            <a:pPr algn="ctr">
              <a:lnSpc>
                <a:spcPct val="100000"/>
              </a:lnSpc>
              <a:spcBef>
                <a:spcPts val="0"/>
              </a:spcBef>
              <a:spcAft>
                <a:spcPts val="0"/>
              </a:spcAft>
            </a:pPr>
            <a:r>
              <a:rPr sz="2400" b="1" i="0">
                <a:solidFill>
                  <a:srgbClr val="A8BFD3"/>
                </a:solidFill>
                <a:latin typeface="Calibri"/>
              </a:rPr>
              <a:t>›</a:t>
            </a:r>
          </a:p>
        </p:txBody>
      </p:sp>
      <p:sp>
        <p:nvSpPr>
          <p:cNvPr id="40" name="Rounded Rectangle 39"/>
          <p:cNvSpPr/>
          <p:nvPr/>
        </p:nvSpPr>
        <p:spPr>
          <a:xfrm>
            <a:off x="621792" y="5358384"/>
            <a:ext cx="10972800" cy="658368"/>
          </a:xfrm>
          <a:prstGeom prst="roundRect">
            <a:avLst>
              <a:gd name="adj" fmla="val 12000"/>
            </a:avLst>
          </a:prstGeom>
          <a:solidFill>
            <a:srgbClr val="E8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21792" y="5358384"/>
            <a:ext cx="68580" cy="65836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77824" y="5404104"/>
            <a:ext cx="10561320" cy="566928"/>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Đầu ra của bước trước là đầu vào của bước sau — toàn bộ quy trình chạy batch, không sửa mã nguồn khi thêm hồ sơ.</a:t>
            </a:r>
          </a:p>
        </p:txBody>
      </p:sp>
      <p:cxnSp>
        <p:nvCxnSpPr>
          <p:cNvPr id="43" name="Connector 42"/>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45" name="TextBox 44"/>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Sáu bước từ workbook đến CSV UTF-8</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PIPELINE XỬ LÝ</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03504" y="1901952"/>
            <a:ext cx="1673352" cy="148132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03504" y="1901952"/>
            <a:ext cx="1673352" cy="68580"/>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048256"/>
            <a:ext cx="365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a:solidFill>
                  <a:srgbClr val="1769AA"/>
                </a:solidFill>
                <a:latin typeface="Calibri"/>
              </a:rPr>
              <a:t>01</a:t>
            </a:r>
          </a:p>
        </p:txBody>
      </p:sp>
      <p:sp>
        <p:nvSpPr>
          <p:cNvPr id="12" name="TextBox 11"/>
          <p:cNvSpPr txBox="1"/>
          <p:nvPr/>
        </p:nvSpPr>
        <p:spPr>
          <a:xfrm>
            <a:off x="731520" y="2331720"/>
            <a:ext cx="1435608" cy="548640"/>
          </a:xfrm>
          <a:prstGeom prst="rect">
            <a:avLst/>
          </a:prstGeom>
          <a:noFill/>
        </p:spPr>
        <p:txBody>
          <a:bodyPr wrap="square" anchor="t" lIns="0" tIns="0" rIns="0" bIns="0">
            <a:spAutoFit/>
          </a:bodyPr>
          <a:lstStyle/>
          <a:p>
            <a:pPr algn="l">
              <a:lnSpc>
                <a:spcPct val="95000"/>
              </a:lnSpc>
              <a:spcBef>
                <a:spcPts val="0"/>
              </a:spcBef>
              <a:spcAft>
                <a:spcPts val="0"/>
              </a:spcAft>
            </a:pPr>
            <a:r>
              <a:rPr sz="1250" b="1" i="0">
                <a:solidFill>
                  <a:srgbClr val="0B2C4D"/>
                </a:solidFill>
                <a:latin typeface="Calibri"/>
              </a:rPr>
              <a:t>Quét thư mục</a:t>
            </a:r>
          </a:p>
        </p:txBody>
      </p:sp>
      <p:sp>
        <p:nvSpPr>
          <p:cNvPr id="13" name="TextBox 12"/>
          <p:cNvSpPr txBox="1"/>
          <p:nvPr/>
        </p:nvSpPr>
        <p:spPr>
          <a:xfrm>
            <a:off x="731520" y="2907792"/>
            <a:ext cx="1435608" cy="347472"/>
          </a:xfrm>
          <a:prstGeom prst="rect">
            <a:avLst/>
          </a:prstGeom>
          <a:noFill/>
        </p:spPr>
        <p:txBody>
          <a:bodyPr wrap="square" anchor="t" lIns="0" tIns="0" rIns="0" bIns="0">
            <a:spAutoFit/>
          </a:bodyPr>
          <a:lstStyle/>
          <a:p>
            <a:pPr algn="l">
              <a:lnSpc>
                <a:spcPct val="100000"/>
              </a:lnSpc>
              <a:spcBef>
                <a:spcPts val="0"/>
              </a:spcBef>
              <a:spcAft>
                <a:spcPts val="0"/>
              </a:spcAft>
            </a:pPr>
            <a:r>
              <a:rPr sz="880" b="0" i="0">
                <a:solidFill>
                  <a:srgbClr val="526476"/>
                </a:solidFill>
                <a:latin typeface="Calibri"/>
              </a:rPr>
              <a:t>.xls / .xlsx</a:t>
            </a:r>
          </a:p>
        </p:txBody>
      </p:sp>
      <p:sp>
        <p:nvSpPr>
          <p:cNvPr id="14" name="TextBox 13"/>
          <p:cNvSpPr txBox="1"/>
          <p:nvPr/>
        </p:nvSpPr>
        <p:spPr>
          <a:xfrm>
            <a:off x="2308860" y="2468880"/>
            <a:ext cx="128015" cy="365760"/>
          </a:xfrm>
          <a:prstGeom prst="rect">
            <a:avLst/>
          </a:prstGeom>
          <a:noFill/>
        </p:spPr>
        <p:txBody>
          <a:bodyPr wrap="square" anchor="t" lIns="0" tIns="0" rIns="0" bIns="0">
            <a:spAutoFit/>
          </a:bodyPr>
          <a:lstStyle/>
          <a:p>
            <a:pPr algn="ctr">
              <a:lnSpc>
                <a:spcPct val="100000"/>
              </a:lnSpc>
              <a:spcBef>
                <a:spcPts val="0"/>
              </a:spcBef>
              <a:spcAft>
                <a:spcPts val="0"/>
              </a:spcAft>
            </a:pPr>
            <a:r>
              <a:rPr sz="1800" b="1" i="0">
                <a:solidFill>
                  <a:srgbClr val="A8BFD3"/>
                </a:solidFill>
                <a:latin typeface="Calibri"/>
              </a:rPr>
              <a:t>›</a:t>
            </a:r>
          </a:p>
        </p:txBody>
      </p:sp>
      <p:sp>
        <p:nvSpPr>
          <p:cNvPr id="15" name="Rounded Rectangle 14"/>
          <p:cNvSpPr/>
          <p:nvPr/>
        </p:nvSpPr>
        <p:spPr>
          <a:xfrm>
            <a:off x="2468880" y="1901952"/>
            <a:ext cx="1673352" cy="148132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468880" y="1901952"/>
            <a:ext cx="1673352" cy="68580"/>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596896" y="2048256"/>
            <a:ext cx="365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a:solidFill>
                  <a:srgbClr val="1769AA"/>
                </a:solidFill>
                <a:latin typeface="Calibri"/>
              </a:rPr>
              <a:t>02</a:t>
            </a:r>
          </a:p>
        </p:txBody>
      </p:sp>
      <p:sp>
        <p:nvSpPr>
          <p:cNvPr id="18" name="TextBox 17"/>
          <p:cNvSpPr txBox="1"/>
          <p:nvPr/>
        </p:nvSpPr>
        <p:spPr>
          <a:xfrm>
            <a:off x="2596896" y="2331720"/>
            <a:ext cx="1435608" cy="548640"/>
          </a:xfrm>
          <a:prstGeom prst="rect">
            <a:avLst/>
          </a:prstGeom>
          <a:noFill/>
        </p:spPr>
        <p:txBody>
          <a:bodyPr wrap="square" anchor="t" lIns="0" tIns="0" rIns="0" bIns="0">
            <a:spAutoFit/>
          </a:bodyPr>
          <a:lstStyle/>
          <a:p>
            <a:pPr algn="l">
              <a:lnSpc>
                <a:spcPct val="95000"/>
              </a:lnSpc>
              <a:spcBef>
                <a:spcPts val="0"/>
              </a:spcBef>
              <a:spcAft>
                <a:spcPts val="0"/>
              </a:spcAft>
            </a:pPr>
            <a:r>
              <a:rPr sz="1250" b="1" i="0">
                <a:solidFill>
                  <a:srgbClr val="0B2C4D"/>
                </a:solidFill>
                <a:latin typeface="Calibri"/>
              </a:rPr>
              <a:t>Đọc workbook</a:t>
            </a:r>
          </a:p>
        </p:txBody>
      </p:sp>
      <p:sp>
        <p:nvSpPr>
          <p:cNvPr id="19" name="TextBox 18"/>
          <p:cNvSpPr txBox="1"/>
          <p:nvPr/>
        </p:nvSpPr>
        <p:spPr>
          <a:xfrm>
            <a:off x="2596896" y="2907792"/>
            <a:ext cx="1435608" cy="347472"/>
          </a:xfrm>
          <a:prstGeom prst="rect">
            <a:avLst/>
          </a:prstGeom>
          <a:noFill/>
        </p:spPr>
        <p:txBody>
          <a:bodyPr wrap="square" anchor="t" lIns="0" tIns="0" rIns="0" bIns="0">
            <a:spAutoFit/>
          </a:bodyPr>
          <a:lstStyle/>
          <a:p>
            <a:pPr algn="l">
              <a:lnSpc>
                <a:spcPct val="100000"/>
              </a:lnSpc>
              <a:spcBef>
                <a:spcPts val="0"/>
              </a:spcBef>
              <a:spcAft>
                <a:spcPts val="0"/>
              </a:spcAft>
            </a:pPr>
            <a:r>
              <a:rPr sz="880" b="0" i="0">
                <a:solidFill>
                  <a:srgbClr val="526476"/>
                </a:solidFill>
                <a:latin typeface="Calibri"/>
              </a:rPr>
              <a:t>openpyxl / xlrd</a:t>
            </a:r>
          </a:p>
        </p:txBody>
      </p:sp>
      <p:sp>
        <p:nvSpPr>
          <p:cNvPr id="20" name="TextBox 19"/>
          <p:cNvSpPr txBox="1"/>
          <p:nvPr/>
        </p:nvSpPr>
        <p:spPr>
          <a:xfrm>
            <a:off x="4174236" y="2468880"/>
            <a:ext cx="128015" cy="365760"/>
          </a:xfrm>
          <a:prstGeom prst="rect">
            <a:avLst/>
          </a:prstGeom>
          <a:noFill/>
        </p:spPr>
        <p:txBody>
          <a:bodyPr wrap="square" anchor="t" lIns="0" tIns="0" rIns="0" bIns="0">
            <a:spAutoFit/>
          </a:bodyPr>
          <a:lstStyle/>
          <a:p>
            <a:pPr algn="ctr">
              <a:lnSpc>
                <a:spcPct val="100000"/>
              </a:lnSpc>
              <a:spcBef>
                <a:spcPts val="0"/>
              </a:spcBef>
              <a:spcAft>
                <a:spcPts val="0"/>
              </a:spcAft>
            </a:pPr>
            <a:r>
              <a:rPr sz="1800" b="1" i="0">
                <a:solidFill>
                  <a:srgbClr val="A8BFD3"/>
                </a:solidFill>
                <a:latin typeface="Calibri"/>
              </a:rPr>
              <a:t>›</a:t>
            </a:r>
          </a:p>
        </p:txBody>
      </p:sp>
      <p:sp>
        <p:nvSpPr>
          <p:cNvPr id="21" name="Rounded Rectangle 20"/>
          <p:cNvSpPr/>
          <p:nvPr/>
        </p:nvSpPr>
        <p:spPr>
          <a:xfrm>
            <a:off x="4334256" y="1901952"/>
            <a:ext cx="1673352" cy="148132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334256" y="1901952"/>
            <a:ext cx="1673352" cy="68580"/>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62272" y="2048256"/>
            <a:ext cx="365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a:solidFill>
                  <a:srgbClr val="1769AA"/>
                </a:solidFill>
                <a:latin typeface="Calibri"/>
              </a:rPr>
              <a:t>03</a:t>
            </a:r>
          </a:p>
        </p:txBody>
      </p:sp>
      <p:sp>
        <p:nvSpPr>
          <p:cNvPr id="24" name="TextBox 23"/>
          <p:cNvSpPr txBox="1"/>
          <p:nvPr/>
        </p:nvSpPr>
        <p:spPr>
          <a:xfrm>
            <a:off x="4462272" y="2331720"/>
            <a:ext cx="1435608" cy="548640"/>
          </a:xfrm>
          <a:prstGeom prst="rect">
            <a:avLst/>
          </a:prstGeom>
          <a:noFill/>
        </p:spPr>
        <p:txBody>
          <a:bodyPr wrap="square" anchor="t" lIns="0" tIns="0" rIns="0" bIns="0">
            <a:spAutoFit/>
          </a:bodyPr>
          <a:lstStyle/>
          <a:p>
            <a:pPr algn="l">
              <a:lnSpc>
                <a:spcPct val="95000"/>
              </a:lnSpc>
              <a:spcBef>
                <a:spcPts val="0"/>
              </a:spcBef>
              <a:spcAft>
                <a:spcPts val="0"/>
              </a:spcAft>
            </a:pPr>
            <a:r>
              <a:rPr sz="1250" b="1" i="0">
                <a:solidFill>
                  <a:srgbClr val="0B2C4D"/>
                </a:solidFill>
                <a:latin typeface="Calibri"/>
              </a:rPr>
              <a:t>Nhận diện TCVN3</a:t>
            </a:r>
          </a:p>
        </p:txBody>
      </p:sp>
      <p:sp>
        <p:nvSpPr>
          <p:cNvPr id="25" name="TextBox 24"/>
          <p:cNvSpPr txBox="1"/>
          <p:nvPr/>
        </p:nvSpPr>
        <p:spPr>
          <a:xfrm>
            <a:off x="4462272" y="2907792"/>
            <a:ext cx="1435608" cy="347472"/>
          </a:xfrm>
          <a:prstGeom prst="rect">
            <a:avLst/>
          </a:prstGeom>
          <a:noFill/>
        </p:spPr>
        <p:txBody>
          <a:bodyPr wrap="square" anchor="t" lIns="0" tIns="0" rIns="0" bIns="0">
            <a:spAutoFit/>
          </a:bodyPr>
          <a:lstStyle/>
          <a:p>
            <a:pPr algn="l">
              <a:lnSpc>
                <a:spcPct val="100000"/>
              </a:lnSpc>
              <a:spcBef>
                <a:spcPts val="0"/>
              </a:spcBef>
              <a:spcAft>
                <a:spcPts val="0"/>
              </a:spcAft>
            </a:pPr>
            <a:r>
              <a:rPr sz="880" b="0" i="0">
                <a:solidFill>
                  <a:srgbClr val="526476"/>
                </a:solidFill>
                <a:latin typeface="Calibri"/>
              </a:rPr>
              <a:t>font + mẫu ký tự</a:t>
            </a:r>
          </a:p>
        </p:txBody>
      </p:sp>
      <p:sp>
        <p:nvSpPr>
          <p:cNvPr id="26" name="TextBox 25"/>
          <p:cNvSpPr txBox="1"/>
          <p:nvPr/>
        </p:nvSpPr>
        <p:spPr>
          <a:xfrm>
            <a:off x="6039612" y="2468880"/>
            <a:ext cx="128015" cy="365760"/>
          </a:xfrm>
          <a:prstGeom prst="rect">
            <a:avLst/>
          </a:prstGeom>
          <a:noFill/>
        </p:spPr>
        <p:txBody>
          <a:bodyPr wrap="square" anchor="t" lIns="0" tIns="0" rIns="0" bIns="0">
            <a:spAutoFit/>
          </a:bodyPr>
          <a:lstStyle/>
          <a:p>
            <a:pPr algn="ctr">
              <a:lnSpc>
                <a:spcPct val="100000"/>
              </a:lnSpc>
              <a:spcBef>
                <a:spcPts val="0"/>
              </a:spcBef>
              <a:spcAft>
                <a:spcPts val="0"/>
              </a:spcAft>
            </a:pPr>
            <a:r>
              <a:rPr sz="1800" b="1" i="0">
                <a:solidFill>
                  <a:srgbClr val="A8BFD3"/>
                </a:solidFill>
                <a:latin typeface="Calibri"/>
              </a:rPr>
              <a:t>›</a:t>
            </a:r>
          </a:p>
        </p:txBody>
      </p:sp>
      <p:sp>
        <p:nvSpPr>
          <p:cNvPr id="27" name="Rounded Rectangle 26"/>
          <p:cNvSpPr/>
          <p:nvPr/>
        </p:nvSpPr>
        <p:spPr>
          <a:xfrm>
            <a:off x="6199632" y="1901952"/>
            <a:ext cx="1673352" cy="148132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199632" y="1901952"/>
            <a:ext cx="1673352" cy="6858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27648" y="2048256"/>
            <a:ext cx="365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a:solidFill>
                  <a:srgbClr val="5FA83C"/>
                </a:solidFill>
                <a:latin typeface="Calibri"/>
              </a:rPr>
              <a:t>04</a:t>
            </a:r>
          </a:p>
        </p:txBody>
      </p:sp>
      <p:sp>
        <p:nvSpPr>
          <p:cNvPr id="30" name="TextBox 29"/>
          <p:cNvSpPr txBox="1"/>
          <p:nvPr/>
        </p:nvSpPr>
        <p:spPr>
          <a:xfrm>
            <a:off x="6327648" y="2331720"/>
            <a:ext cx="1435608" cy="548640"/>
          </a:xfrm>
          <a:prstGeom prst="rect">
            <a:avLst/>
          </a:prstGeom>
          <a:noFill/>
        </p:spPr>
        <p:txBody>
          <a:bodyPr wrap="square" anchor="t" lIns="0" tIns="0" rIns="0" bIns="0">
            <a:spAutoFit/>
          </a:bodyPr>
          <a:lstStyle/>
          <a:p>
            <a:pPr algn="l">
              <a:lnSpc>
                <a:spcPct val="95000"/>
              </a:lnSpc>
              <a:spcBef>
                <a:spcPts val="0"/>
              </a:spcBef>
              <a:spcAft>
                <a:spcPts val="0"/>
              </a:spcAft>
            </a:pPr>
            <a:r>
              <a:rPr sz="1250" b="1" i="0">
                <a:solidFill>
                  <a:srgbClr val="0B2C4D"/>
                </a:solidFill>
                <a:latin typeface="Calibri"/>
              </a:rPr>
              <a:t>Chuyển Unicode</a:t>
            </a:r>
          </a:p>
        </p:txBody>
      </p:sp>
      <p:sp>
        <p:nvSpPr>
          <p:cNvPr id="31" name="TextBox 30"/>
          <p:cNvSpPr txBox="1"/>
          <p:nvPr/>
        </p:nvSpPr>
        <p:spPr>
          <a:xfrm>
            <a:off x="6327648" y="2907792"/>
            <a:ext cx="1435608" cy="347472"/>
          </a:xfrm>
          <a:prstGeom prst="rect">
            <a:avLst/>
          </a:prstGeom>
          <a:noFill/>
        </p:spPr>
        <p:txBody>
          <a:bodyPr wrap="square" anchor="t" lIns="0" tIns="0" rIns="0" bIns="0">
            <a:spAutoFit/>
          </a:bodyPr>
          <a:lstStyle/>
          <a:p>
            <a:pPr algn="l">
              <a:lnSpc>
                <a:spcPct val="100000"/>
              </a:lnSpc>
              <a:spcBef>
                <a:spcPts val="0"/>
              </a:spcBef>
              <a:spcAft>
                <a:spcPts val="0"/>
              </a:spcAft>
            </a:pPr>
            <a:r>
              <a:rPr sz="880" b="0" i="0">
                <a:solidFill>
                  <a:srgbClr val="526476"/>
                </a:solidFill>
                <a:latin typeface="Calibri"/>
              </a:rPr>
              <a:t>thay thế 2 pha</a:t>
            </a:r>
          </a:p>
        </p:txBody>
      </p:sp>
      <p:sp>
        <p:nvSpPr>
          <p:cNvPr id="32" name="TextBox 31"/>
          <p:cNvSpPr txBox="1"/>
          <p:nvPr/>
        </p:nvSpPr>
        <p:spPr>
          <a:xfrm>
            <a:off x="7904988" y="2468880"/>
            <a:ext cx="128015" cy="365760"/>
          </a:xfrm>
          <a:prstGeom prst="rect">
            <a:avLst/>
          </a:prstGeom>
          <a:noFill/>
        </p:spPr>
        <p:txBody>
          <a:bodyPr wrap="square" anchor="t" lIns="0" tIns="0" rIns="0" bIns="0">
            <a:spAutoFit/>
          </a:bodyPr>
          <a:lstStyle/>
          <a:p>
            <a:pPr algn="ctr">
              <a:lnSpc>
                <a:spcPct val="100000"/>
              </a:lnSpc>
              <a:spcBef>
                <a:spcPts val="0"/>
              </a:spcBef>
              <a:spcAft>
                <a:spcPts val="0"/>
              </a:spcAft>
            </a:pPr>
            <a:r>
              <a:rPr sz="1800" b="1" i="0">
                <a:solidFill>
                  <a:srgbClr val="A8BFD3"/>
                </a:solidFill>
                <a:latin typeface="Calibri"/>
              </a:rPr>
              <a:t>›</a:t>
            </a:r>
          </a:p>
        </p:txBody>
      </p:sp>
      <p:sp>
        <p:nvSpPr>
          <p:cNvPr id="33" name="Rounded Rectangle 32"/>
          <p:cNvSpPr/>
          <p:nvPr/>
        </p:nvSpPr>
        <p:spPr>
          <a:xfrm>
            <a:off x="8065008" y="1901952"/>
            <a:ext cx="1673352" cy="148132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8065008" y="1901952"/>
            <a:ext cx="1673352" cy="6858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93024" y="2048256"/>
            <a:ext cx="365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a:solidFill>
                  <a:srgbClr val="5FA83C"/>
                </a:solidFill>
                <a:latin typeface="Calibri"/>
              </a:rPr>
              <a:t>05</a:t>
            </a:r>
          </a:p>
        </p:txBody>
      </p:sp>
      <p:sp>
        <p:nvSpPr>
          <p:cNvPr id="36" name="TextBox 35"/>
          <p:cNvSpPr txBox="1"/>
          <p:nvPr/>
        </p:nvSpPr>
        <p:spPr>
          <a:xfrm>
            <a:off x="8193024" y="2331720"/>
            <a:ext cx="1435608" cy="548640"/>
          </a:xfrm>
          <a:prstGeom prst="rect">
            <a:avLst/>
          </a:prstGeom>
          <a:noFill/>
        </p:spPr>
        <p:txBody>
          <a:bodyPr wrap="square" anchor="t" lIns="0" tIns="0" rIns="0" bIns="0">
            <a:spAutoFit/>
          </a:bodyPr>
          <a:lstStyle/>
          <a:p>
            <a:pPr algn="l">
              <a:lnSpc>
                <a:spcPct val="95000"/>
              </a:lnSpc>
              <a:spcBef>
                <a:spcPts val="0"/>
              </a:spcBef>
              <a:spcAft>
                <a:spcPts val="0"/>
              </a:spcAft>
            </a:pPr>
            <a:r>
              <a:rPr sz="1250" b="1" i="0">
                <a:solidFill>
                  <a:srgbClr val="0B2C4D"/>
                </a:solidFill>
                <a:latin typeface="Calibri"/>
              </a:rPr>
              <a:t>Lọc sheet rỗng</a:t>
            </a:r>
          </a:p>
        </p:txBody>
      </p:sp>
      <p:sp>
        <p:nvSpPr>
          <p:cNvPr id="37" name="TextBox 36"/>
          <p:cNvSpPr txBox="1"/>
          <p:nvPr/>
        </p:nvSpPr>
        <p:spPr>
          <a:xfrm>
            <a:off x="8193024" y="2907792"/>
            <a:ext cx="1435608" cy="347472"/>
          </a:xfrm>
          <a:prstGeom prst="rect">
            <a:avLst/>
          </a:prstGeom>
          <a:noFill/>
        </p:spPr>
        <p:txBody>
          <a:bodyPr wrap="square" anchor="t" lIns="0" tIns="0" rIns="0" bIns="0">
            <a:spAutoFit/>
          </a:bodyPr>
          <a:lstStyle/>
          <a:p>
            <a:pPr algn="l">
              <a:lnSpc>
                <a:spcPct val="100000"/>
              </a:lnSpc>
              <a:spcBef>
                <a:spcPts val="0"/>
              </a:spcBef>
              <a:spcAft>
                <a:spcPts val="0"/>
              </a:spcAft>
            </a:pPr>
            <a:r>
              <a:rPr sz="880" b="0" i="0">
                <a:solidFill>
                  <a:srgbClr val="526476"/>
                </a:solidFill>
                <a:latin typeface="Calibri"/>
              </a:rPr>
              <a:t>không có dữ liệu</a:t>
            </a:r>
          </a:p>
        </p:txBody>
      </p:sp>
      <p:sp>
        <p:nvSpPr>
          <p:cNvPr id="38" name="TextBox 37"/>
          <p:cNvSpPr txBox="1"/>
          <p:nvPr/>
        </p:nvSpPr>
        <p:spPr>
          <a:xfrm>
            <a:off x="9770364" y="2468880"/>
            <a:ext cx="128015" cy="365760"/>
          </a:xfrm>
          <a:prstGeom prst="rect">
            <a:avLst/>
          </a:prstGeom>
          <a:noFill/>
        </p:spPr>
        <p:txBody>
          <a:bodyPr wrap="square" anchor="t" lIns="0" tIns="0" rIns="0" bIns="0">
            <a:spAutoFit/>
          </a:bodyPr>
          <a:lstStyle/>
          <a:p>
            <a:pPr algn="ctr">
              <a:lnSpc>
                <a:spcPct val="100000"/>
              </a:lnSpc>
              <a:spcBef>
                <a:spcPts val="0"/>
              </a:spcBef>
              <a:spcAft>
                <a:spcPts val="0"/>
              </a:spcAft>
            </a:pPr>
            <a:r>
              <a:rPr sz="1800" b="1" i="0">
                <a:solidFill>
                  <a:srgbClr val="A8BFD3"/>
                </a:solidFill>
                <a:latin typeface="Calibri"/>
              </a:rPr>
              <a:t>›</a:t>
            </a:r>
          </a:p>
        </p:txBody>
      </p:sp>
      <p:sp>
        <p:nvSpPr>
          <p:cNvPr id="39" name="Rounded Rectangle 38"/>
          <p:cNvSpPr/>
          <p:nvPr/>
        </p:nvSpPr>
        <p:spPr>
          <a:xfrm>
            <a:off x="9930384" y="1901952"/>
            <a:ext cx="1673352" cy="148132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9930384" y="1901952"/>
            <a:ext cx="1673352" cy="68580"/>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058400" y="2048256"/>
            <a:ext cx="365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a:solidFill>
                  <a:srgbClr val="E8891C"/>
                </a:solidFill>
                <a:latin typeface="Calibri"/>
              </a:rPr>
              <a:t>06</a:t>
            </a:r>
          </a:p>
        </p:txBody>
      </p:sp>
      <p:sp>
        <p:nvSpPr>
          <p:cNvPr id="42" name="TextBox 41"/>
          <p:cNvSpPr txBox="1"/>
          <p:nvPr/>
        </p:nvSpPr>
        <p:spPr>
          <a:xfrm>
            <a:off x="10058400" y="2331720"/>
            <a:ext cx="1435608" cy="548640"/>
          </a:xfrm>
          <a:prstGeom prst="rect">
            <a:avLst/>
          </a:prstGeom>
          <a:noFill/>
        </p:spPr>
        <p:txBody>
          <a:bodyPr wrap="square" anchor="t" lIns="0" tIns="0" rIns="0" bIns="0">
            <a:spAutoFit/>
          </a:bodyPr>
          <a:lstStyle/>
          <a:p>
            <a:pPr algn="l">
              <a:lnSpc>
                <a:spcPct val="95000"/>
              </a:lnSpc>
              <a:spcBef>
                <a:spcPts val="0"/>
              </a:spcBef>
              <a:spcAft>
                <a:spcPts val="0"/>
              </a:spcAft>
            </a:pPr>
            <a:r>
              <a:rPr sz="1250" b="1" i="0">
                <a:solidFill>
                  <a:srgbClr val="0B2C4D"/>
                </a:solidFill>
                <a:latin typeface="Calibri"/>
              </a:rPr>
              <a:t>Xuất CSV UTF-8</a:t>
            </a:r>
          </a:p>
        </p:txBody>
      </p:sp>
      <p:sp>
        <p:nvSpPr>
          <p:cNvPr id="43" name="TextBox 42"/>
          <p:cNvSpPr txBox="1"/>
          <p:nvPr/>
        </p:nvSpPr>
        <p:spPr>
          <a:xfrm>
            <a:off x="10058400" y="2907792"/>
            <a:ext cx="1435608" cy="347472"/>
          </a:xfrm>
          <a:prstGeom prst="rect">
            <a:avLst/>
          </a:prstGeom>
          <a:noFill/>
        </p:spPr>
        <p:txBody>
          <a:bodyPr wrap="square" anchor="t" lIns="0" tIns="0" rIns="0" bIns="0">
            <a:spAutoFit/>
          </a:bodyPr>
          <a:lstStyle/>
          <a:p>
            <a:pPr algn="l">
              <a:lnSpc>
                <a:spcPct val="100000"/>
              </a:lnSpc>
              <a:spcBef>
                <a:spcPts val="0"/>
              </a:spcBef>
              <a:spcAft>
                <a:spcPts val="0"/>
              </a:spcAft>
            </a:pPr>
            <a:r>
              <a:rPr sz="880" b="0" i="0">
                <a:solidFill>
                  <a:srgbClr val="526476"/>
                </a:solidFill>
                <a:latin typeface="Calibri"/>
              </a:rPr>
              <a:t>utf-8-sig</a:t>
            </a:r>
          </a:p>
        </p:txBody>
      </p:sp>
      <p:sp>
        <p:nvSpPr>
          <p:cNvPr id="44" name="Rounded Rectangle 43"/>
          <p:cNvSpPr/>
          <p:nvPr/>
        </p:nvSpPr>
        <p:spPr>
          <a:xfrm>
            <a:off x="603504" y="3730752"/>
            <a:ext cx="10991088" cy="1874519"/>
          </a:xfrm>
          <a:prstGeom prst="roundRect">
            <a:avLst>
              <a:gd name="adj" fmla="val 6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41248" y="3895344"/>
            <a:ext cx="182880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1769AA"/>
                </a:solidFill>
                <a:latin typeface="Calibri"/>
              </a:rPr>
              <a:t>ĐẦU VÀO</a:t>
            </a:r>
          </a:p>
        </p:txBody>
      </p:sp>
      <p:sp>
        <p:nvSpPr>
          <p:cNvPr id="46" name="TextBox 45"/>
          <p:cNvSpPr txBox="1"/>
          <p:nvPr/>
        </p:nvSpPr>
        <p:spPr>
          <a:xfrm>
            <a:off x="841248" y="4169663"/>
            <a:ext cx="2331720" cy="777240"/>
          </a:xfrm>
          <a:prstGeom prst="rect">
            <a:avLst/>
          </a:prstGeom>
          <a:noFill/>
        </p:spPr>
        <p:txBody>
          <a:bodyPr wrap="square" anchor="t" lIns="0" tIns="0" rIns="0" bIns="0">
            <a:spAutoFit/>
          </a:bodyPr>
          <a:lstStyle/>
          <a:p>
            <a:pPr algn="l">
              <a:lnSpc>
                <a:spcPct val="105000"/>
              </a:lnSpc>
              <a:spcBef>
                <a:spcPts val="0"/>
              </a:spcBef>
              <a:spcAft>
                <a:spcPts val="0"/>
              </a:spcAft>
            </a:pPr>
            <a:r>
              <a:rPr sz="1300" b="1" i="0">
                <a:solidFill>
                  <a:srgbClr val="0B2C4D"/>
                </a:solidFill>
                <a:latin typeface="Calibri"/>
              </a:rPr>
              <a:t>166 tệp
158 .xlsx + 8 .xls</a:t>
            </a:r>
          </a:p>
        </p:txBody>
      </p:sp>
      <p:cxnSp>
        <p:nvCxnSpPr>
          <p:cNvPr id="47" name="Connector 46"/>
          <p:cNvCxnSpPr/>
          <p:nvPr/>
        </p:nvCxnSpPr>
        <p:spPr>
          <a:xfrm>
            <a:off x="3310128" y="3931920"/>
            <a:ext cx="0" cy="96012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547872" y="3895344"/>
            <a:ext cx="21945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3F7D28"/>
                </a:solidFill>
                <a:latin typeface="Calibri"/>
              </a:rPr>
              <a:t>XỬ LÝ</a:t>
            </a:r>
          </a:p>
        </p:txBody>
      </p:sp>
      <p:sp>
        <p:nvSpPr>
          <p:cNvPr id="49" name="TextBox 48"/>
          <p:cNvSpPr txBox="1"/>
          <p:nvPr/>
        </p:nvSpPr>
        <p:spPr>
          <a:xfrm>
            <a:off x="3547872" y="4169663"/>
            <a:ext cx="3063240" cy="777240"/>
          </a:xfrm>
          <a:prstGeom prst="rect">
            <a:avLst/>
          </a:prstGeom>
          <a:noFill/>
        </p:spPr>
        <p:txBody>
          <a:bodyPr wrap="square" anchor="t" lIns="0" tIns="0" rIns="0" bIns="0">
            <a:spAutoFit/>
          </a:bodyPr>
          <a:lstStyle/>
          <a:p>
            <a:pPr algn="l">
              <a:lnSpc>
                <a:spcPct val="105000"/>
              </a:lnSpc>
              <a:spcBef>
                <a:spcPts val="0"/>
              </a:spcBef>
              <a:spcAft>
                <a:spcPts val="0"/>
              </a:spcAft>
            </a:pPr>
            <a:r>
              <a:rPr sz="1300" b="1" i="0">
                <a:solidFill>
                  <a:srgbClr val="0B2C4D"/>
                </a:solidFill>
                <a:latin typeface="Calibri"/>
              </a:rPr>
              <a:t>963 sheet
lọc bỏ sheet rỗng</a:t>
            </a:r>
          </a:p>
        </p:txBody>
      </p:sp>
      <p:cxnSp>
        <p:nvCxnSpPr>
          <p:cNvPr id="50" name="Connector 49"/>
          <p:cNvCxnSpPr/>
          <p:nvPr/>
        </p:nvCxnSpPr>
        <p:spPr>
          <a:xfrm>
            <a:off x="6675120" y="3931920"/>
            <a:ext cx="0" cy="96012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912864" y="3895344"/>
            <a:ext cx="21945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E8891C"/>
                </a:solidFill>
                <a:latin typeface="Calibri"/>
              </a:rPr>
              <a:t>ĐẦU RA</a:t>
            </a:r>
          </a:p>
        </p:txBody>
      </p:sp>
      <p:sp>
        <p:nvSpPr>
          <p:cNvPr id="52" name="TextBox 51"/>
          <p:cNvSpPr txBox="1"/>
          <p:nvPr/>
        </p:nvSpPr>
        <p:spPr>
          <a:xfrm>
            <a:off x="6912864" y="4169663"/>
            <a:ext cx="2743200" cy="777240"/>
          </a:xfrm>
          <a:prstGeom prst="rect">
            <a:avLst/>
          </a:prstGeom>
          <a:noFill/>
        </p:spPr>
        <p:txBody>
          <a:bodyPr wrap="square" anchor="t" lIns="0" tIns="0" rIns="0" bIns="0">
            <a:spAutoFit/>
          </a:bodyPr>
          <a:lstStyle/>
          <a:p>
            <a:pPr algn="l">
              <a:lnSpc>
                <a:spcPct val="105000"/>
              </a:lnSpc>
              <a:spcBef>
                <a:spcPts val="0"/>
              </a:spcBef>
              <a:spcAft>
                <a:spcPts val="0"/>
              </a:spcAft>
            </a:pPr>
            <a:r>
              <a:rPr sz="1300" b="1" i="0">
                <a:solidFill>
                  <a:srgbClr val="0B2C4D"/>
                </a:solidFill>
                <a:latin typeface="Calibri"/>
              </a:rPr>
              <a:t>20.532 mẫu
CSV mã UTF-8</a:t>
            </a:r>
          </a:p>
        </p:txBody>
      </p:sp>
      <p:cxnSp>
        <p:nvCxnSpPr>
          <p:cNvPr id="53" name="Connector 52"/>
          <p:cNvCxnSpPr/>
          <p:nvPr/>
        </p:nvCxnSpPr>
        <p:spPr>
          <a:xfrm>
            <a:off x="9765792" y="3931920"/>
            <a:ext cx="0" cy="96012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003536" y="3895344"/>
            <a:ext cx="146304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10507F"/>
                </a:solidFill>
                <a:latin typeface="Calibri"/>
              </a:rPr>
              <a:t>NGUYÊN TẮC</a:t>
            </a:r>
          </a:p>
        </p:txBody>
      </p:sp>
      <p:sp>
        <p:nvSpPr>
          <p:cNvPr id="55" name="TextBox 54"/>
          <p:cNvSpPr txBox="1"/>
          <p:nvPr/>
        </p:nvSpPr>
        <p:spPr>
          <a:xfrm>
            <a:off x="10003536" y="4169663"/>
            <a:ext cx="1417320" cy="868680"/>
          </a:xfrm>
          <a:prstGeom prst="rect">
            <a:avLst/>
          </a:prstGeom>
          <a:noFill/>
        </p:spPr>
        <p:txBody>
          <a:bodyPr wrap="square" anchor="t" lIns="0" tIns="0" rIns="0" bIns="0">
            <a:spAutoFit/>
          </a:bodyPr>
          <a:lstStyle/>
          <a:p>
            <a:pPr algn="l">
              <a:lnSpc>
                <a:spcPct val="120000"/>
              </a:lnSpc>
              <a:spcBef>
                <a:spcPts val="0"/>
              </a:spcBef>
              <a:spcAft>
                <a:spcPts val="0"/>
              </a:spcAft>
            </a:pPr>
            <a:r>
              <a:rPr sz="1050" b="1" i="0">
                <a:solidFill>
                  <a:srgbClr val="0B2C4D"/>
                </a:solidFill>
                <a:latin typeface="Calibri"/>
              </a:rPr>
              <a:t>Batch
Tái lập
Có log lỗi</a:t>
            </a:r>
          </a:p>
        </p:txBody>
      </p:sp>
      <p:sp>
        <p:nvSpPr>
          <p:cNvPr id="56" name="TextBox 55"/>
          <p:cNvSpPr txBox="1"/>
          <p:nvPr/>
        </p:nvSpPr>
        <p:spPr>
          <a:xfrm>
            <a:off x="841248" y="5093208"/>
            <a:ext cx="10515600" cy="310896"/>
          </a:xfrm>
          <a:prstGeom prst="rect">
            <a:avLst/>
          </a:prstGeom>
          <a:noFill/>
        </p:spPr>
        <p:txBody>
          <a:bodyPr wrap="square" anchor="t" lIns="0" tIns="0" rIns="0" bIns="0">
            <a:spAutoFit/>
          </a:bodyPr>
          <a:lstStyle/>
          <a:p>
            <a:pPr algn="l">
              <a:lnSpc>
                <a:spcPct val="100000"/>
              </a:lnSpc>
              <a:spcBef>
                <a:spcPts val="0"/>
              </a:spcBef>
              <a:spcAft>
                <a:spcPts val="0"/>
              </a:spcAft>
            </a:pPr>
            <a:r>
              <a:rPr sz="1050" b="0" i="1">
                <a:solidFill>
                  <a:srgbClr val="526476"/>
                </a:solidFill>
                <a:latin typeface="Calibri"/>
              </a:rPr>
              <a:t>Mỗi sheet hợp lệ  →  1 tệp CSV;  tên file truy vết nguồn;  log OK/FAIL cho từng workbook.</a:t>
            </a:r>
          </a:p>
        </p:txBody>
      </p:sp>
      <p:cxnSp>
        <p:nvCxnSpPr>
          <p:cNvPr id="57" name="Connector 56"/>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59" name="TextBox 58"/>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300" b="1">
                <a:solidFill>
                  <a:srgbClr val="0B2C4D"/>
                </a:solidFill>
                <a:latin typeface="Calibri"/>
              </a:rPr>
              <a:t>Mỗi workbook là một cấu trúc riêng cần kiểm tra</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PHÂN TÍCH DỮ LIỆU</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37360"/>
            <a:ext cx="7424927" cy="4160520"/>
          </a:xfrm>
          <a:prstGeom prst="roundRect">
            <a:avLst>
              <a:gd name="adj" fmla="val 4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mage_004.png"/>
          <p:cNvPicPr>
            <a:picLocks noChangeAspect="1"/>
          </p:cNvPicPr>
          <p:nvPr/>
        </p:nvPicPr>
        <p:blipFill>
          <a:blip r:embed="rId4"/>
          <a:stretch>
            <a:fillRect/>
          </a:stretch>
        </p:blipFill>
        <p:spPr>
          <a:xfrm>
            <a:off x="892195" y="1847088"/>
            <a:ext cx="6957272" cy="3675887"/>
          </a:xfrm>
          <a:prstGeom prst="rect">
            <a:avLst/>
          </a:prstGeom>
          <a:effectLst/>
        </p:spPr>
      </p:pic>
      <p:sp>
        <p:nvSpPr>
          <p:cNvPr id="11" name="TextBox 10"/>
          <p:cNvSpPr txBox="1"/>
          <p:nvPr/>
        </p:nvSpPr>
        <p:spPr>
          <a:xfrm>
            <a:off x="768096" y="5577840"/>
            <a:ext cx="7205472" cy="237744"/>
          </a:xfrm>
          <a:prstGeom prst="rect">
            <a:avLst/>
          </a:prstGeom>
          <a:noFill/>
        </p:spPr>
        <p:txBody>
          <a:bodyPr wrap="square" anchor="t" lIns="0" tIns="0" rIns="0" bIns="0">
            <a:spAutoFit/>
          </a:bodyPr>
          <a:lstStyle/>
          <a:p>
            <a:pPr algn="l">
              <a:lnSpc>
                <a:spcPct val="100000"/>
              </a:lnSpc>
              <a:spcBef>
                <a:spcPts val="0"/>
              </a:spcBef>
              <a:spcAft>
                <a:spcPts val="0"/>
              </a:spcAft>
            </a:pPr>
            <a:r>
              <a:rPr sz="900" b="0" i="1">
                <a:solidFill>
                  <a:srgbClr val="8593A1"/>
                </a:solidFill>
                <a:latin typeface="Calibri"/>
              </a:rPr>
              <a:t>Hình 2. Workbook nhiều sheet, bảng số liệu và lỗi font TCVN3</a:t>
            </a:r>
          </a:p>
        </p:txBody>
      </p:sp>
      <p:sp>
        <p:nvSpPr>
          <p:cNvPr id="12" name="Rounded Rectangle 11"/>
          <p:cNvSpPr/>
          <p:nvPr/>
        </p:nvSpPr>
        <p:spPr>
          <a:xfrm>
            <a:off x="8247888" y="1737360"/>
            <a:ext cx="3328416" cy="1078992"/>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247888" y="1737360"/>
            <a:ext cx="59436" cy="1078992"/>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30768" y="1856231"/>
            <a:ext cx="2926080" cy="256032"/>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Cấu trúc</a:t>
            </a:r>
          </a:p>
        </p:txBody>
      </p:sp>
      <p:sp>
        <p:nvSpPr>
          <p:cNvPr id="15" name="TextBox 14"/>
          <p:cNvSpPr txBox="1"/>
          <p:nvPr/>
        </p:nvSpPr>
        <p:spPr>
          <a:xfrm>
            <a:off x="8430768" y="2167128"/>
            <a:ext cx="2926080" cy="548640"/>
          </a:xfrm>
          <a:prstGeom prst="rect">
            <a:avLst/>
          </a:prstGeom>
          <a:noFill/>
        </p:spPr>
        <p:txBody>
          <a:bodyPr wrap="square" anchor="t" lIns="0" tIns="0" rIns="0" bIns="0">
            <a:spAutoFit/>
          </a:bodyPr>
          <a:lstStyle/>
          <a:p>
            <a:pPr algn="l">
              <a:lnSpc>
                <a:spcPct val="108000"/>
              </a:lnSpc>
              <a:spcBef>
                <a:spcPts val="0"/>
              </a:spcBef>
              <a:spcAft>
                <a:spcPts val="0"/>
              </a:spcAft>
            </a:pPr>
            <a:r>
              <a:rPr sz="980" b="0" i="0">
                <a:solidFill>
                  <a:srgbClr val="526476"/>
                </a:solidFill>
                <a:latin typeface="Calibri"/>
              </a:rPr>
              <a:t>max_row, max_column; sheet rỗng hoặc trang bìa bị loại.</a:t>
            </a:r>
          </a:p>
        </p:txBody>
      </p:sp>
      <p:sp>
        <p:nvSpPr>
          <p:cNvPr id="16" name="Rounded Rectangle 15"/>
          <p:cNvSpPr/>
          <p:nvPr/>
        </p:nvSpPr>
        <p:spPr>
          <a:xfrm>
            <a:off x="8247888" y="2962656"/>
            <a:ext cx="3328416" cy="1078992"/>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47888" y="2962656"/>
            <a:ext cx="59436" cy="1078992"/>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30768" y="3081528"/>
            <a:ext cx="2926080" cy="256032"/>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Kiểu dữ liệu</a:t>
            </a:r>
          </a:p>
        </p:txBody>
      </p:sp>
      <p:sp>
        <p:nvSpPr>
          <p:cNvPr id="19" name="TextBox 18"/>
          <p:cNvSpPr txBox="1"/>
          <p:nvPr/>
        </p:nvSpPr>
        <p:spPr>
          <a:xfrm>
            <a:off x="8430768" y="3392424"/>
            <a:ext cx="2926080" cy="548640"/>
          </a:xfrm>
          <a:prstGeom prst="rect">
            <a:avLst/>
          </a:prstGeom>
          <a:noFill/>
        </p:spPr>
        <p:txBody>
          <a:bodyPr wrap="square" anchor="t" lIns="0" tIns="0" rIns="0" bIns="0">
            <a:spAutoFit/>
          </a:bodyPr>
          <a:lstStyle/>
          <a:p>
            <a:pPr algn="l">
              <a:lnSpc>
                <a:spcPct val="108000"/>
              </a:lnSpc>
              <a:spcBef>
                <a:spcPts val="0"/>
              </a:spcBef>
              <a:spcAft>
                <a:spcPts val="0"/>
              </a:spcAft>
            </a:pPr>
            <a:r>
              <a:rPr sz="980" b="0" i="0">
                <a:solidFill>
                  <a:srgbClr val="526476"/>
                </a:solidFill>
                <a:latin typeface="Calibri"/>
              </a:rPr>
              <a:t>Giữ nguyên giá trị số; chuỗi chỉ chuyển mã khi cần.</a:t>
            </a:r>
          </a:p>
        </p:txBody>
      </p:sp>
      <p:sp>
        <p:nvSpPr>
          <p:cNvPr id="20" name="Rounded Rectangle 19"/>
          <p:cNvSpPr/>
          <p:nvPr/>
        </p:nvSpPr>
        <p:spPr>
          <a:xfrm>
            <a:off x="8247888" y="4187952"/>
            <a:ext cx="3328416" cy="1078992"/>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247888" y="4187952"/>
            <a:ext cx="59436" cy="1078992"/>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30768" y="4306824"/>
            <a:ext cx="2926080" cy="256032"/>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Nhận diện TCVN3</a:t>
            </a:r>
          </a:p>
        </p:txBody>
      </p:sp>
      <p:sp>
        <p:nvSpPr>
          <p:cNvPr id="23" name="TextBox 22"/>
          <p:cNvSpPr txBox="1"/>
          <p:nvPr/>
        </p:nvSpPr>
        <p:spPr>
          <a:xfrm>
            <a:off x="8430768" y="4617720"/>
            <a:ext cx="2926080" cy="548640"/>
          </a:xfrm>
          <a:prstGeom prst="rect">
            <a:avLst/>
          </a:prstGeom>
          <a:noFill/>
        </p:spPr>
        <p:txBody>
          <a:bodyPr wrap="square" anchor="t" lIns="0" tIns="0" rIns="0" bIns="0">
            <a:spAutoFit/>
          </a:bodyPr>
          <a:lstStyle/>
          <a:p>
            <a:pPr algn="l">
              <a:lnSpc>
                <a:spcPct val="108000"/>
              </a:lnSpc>
              <a:spcBef>
                <a:spcPts val="0"/>
              </a:spcBef>
              <a:spcAft>
                <a:spcPts val="0"/>
              </a:spcAft>
            </a:pPr>
            <a:r>
              <a:rPr sz="980" b="0" i="0">
                <a:solidFill>
                  <a:srgbClr val="526476"/>
                </a:solidFill>
                <a:latin typeface="Calibri"/>
              </a:rPr>
              <a:t>Theo font .Vn… / TCVN3 hoặc mẫu ký tự đặc trưng.</a:t>
            </a:r>
          </a:p>
        </p:txBody>
      </p:sp>
      <p:sp>
        <p:nvSpPr>
          <p:cNvPr id="24" name="TextBox 23"/>
          <p:cNvSpPr txBox="1"/>
          <p:nvPr/>
        </p:nvSpPr>
        <p:spPr>
          <a:xfrm>
            <a:off x="8275320" y="5468112"/>
            <a:ext cx="3246120" cy="411480"/>
          </a:xfrm>
          <a:prstGeom prst="rect">
            <a:avLst/>
          </a:prstGeom>
          <a:noFill/>
        </p:spPr>
        <p:txBody>
          <a:bodyPr wrap="square" anchor="t" lIns="0" tIns="0" rIns="0" bIns="0">
            <a:spAutoFit/>
          </a:bodyPr>
          <a:lstStyle/>
          <a:p>
            <a:pPr algn="l">
              <a:lnSpc>
                <a:spcPct val="100000"/>
              </a:lnSpc>
              <a:spcBef>
                <a:spcPts val="0"/>
              </a:spcBef>
              <a:spcAft>
                <a:spcPts val="0"/>
              </a:spcAft>
            </a:pPr>
            <a:r>
              <a:rPr sz="950" b="0" i="1">
                <a:solidFill>
                  <a:srgbClr val="E8891C"/>
                </a:solidFill>
                <a:latin typeface="Calibri"/>
              </a:rPr>
              <a:t>Tệp hỏng / có mật khẩu → ghi log, loại khỏi tập huấn luyện.</a:t>
            </a:r>
          </a:p>
        </p:txBody>
      </p:sp>
      <p:cxnSp>
        <p:nvCxnSpPr>
          <p:cNvPr id="25" name="Connector 24"/>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27" name="TextBox 26"/>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300" b="1">
                <a:solidFill>
                  <a:srgbClr val="0B2C4D"/>
                </a:solidFill>
                <a:latin typeface="Calibri"/>
              </a:rPr>
              <a:t>Một điểm vào, hai thư viện đọc Excel, một định dạng ra</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KIẾN TRÚC MÃ NGUỒN</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1682496"/>
            <a:ext cx="53949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80">
                <a:solidFill>
                  <a:srgbClr val="1769AA"/>
                </a:solidFill>
                <a:latin typeface="Calibri"/>
              </a:rPr>
              <a:t>GIAO DIỆN DÒNG LỆNH</a:t>
            </a:r>
          </a:p>
        </p:txBody>
      </p:sp>
      <p:sp>
        <p:nvSpPr>
          <p:cNvPr id="10" name="Rounded Rectangle 9"/>
          <p:cNvSpPr/>
          <p:nvPr/>
        </p:nvSpPr>
        <p:spPr>
          <a:xfrm>
            <a:off x="685800" y="1956816"/>
            <a:ext cx="5413248" cy="2029968"/>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2103120"/>
            <a:ext cx="5047488" cy="228600"/>
          </a:xfrm>
          <a:prstGeom prst="rect">
            <a:avLst/>
          </a:prstGeom>
          <a:noFill/>
        </p:spPr>
        <p:txBody>
          <a:bodyPr wrap="square" anchor="t" lIns="0" tIns="0" rIns="0" bIns="0">
            <a:spAutoFit/>
          </a:bodyPr>
          <a:lstStyle/>
          <a:p>
            <a:pPr algn="l">
              <a:lnSpc>
                <a:spcPct val="100000"/>
              </a:lnSpc>
              <a:spcBef>
                <a:spcPts val="0"/>
              </a:spcBef>
              <a:spcAft>
                <a:spcPts val="0"/>
              </a:spcAft>
            </a:pPr>
            <a:r>
              <a:rPr sz="900" b="1" i="0" spc="40">
                <a:solidFill>
                  <a:srgbClr val="8FB6D9"/>
                </a:solidFill>
                <a:latin typeface="Consolas"/>
              </a:rPr>
              <a:t>PowerShell / CMD</a:t>
            </a:r>
          </a:p>
        </p:txBody>
      </p:sp>
      <p:cxnSp>
        <p:nvCxnSpPr>
          <p:cNvPr id="12" name="Connector 11"/>
          <p:cNvCxnSpPr/>
          <p:nvPr/>
        </p:nvCxnSpPr>
        <p:spPr>
          <a:xfrm>
            <a:off x="850392" y="2377440"/>
            <a:ext cx="5084064" cy="0"/>
          </a:xfrm>
          <a:prstGeom prst="line">
            <a:avLst/>
          </a:prstGeom>
          <a:ln w="9525">
            <a:solidFill>
              <a:srgbClr val="27486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86968" y="2468880"/>
            <a:ext cx="5047488" cy="1408176"/>
          </a:xfrm>
          <a:prstGeom prst="rect">
            <a:avLst/>
          </a:prstGeom>
          <a:noFill/>
        </p:spPr>
        <p:txBody>
          <a:bodyPr wrap="square" anchor="t" lIns="0" tIns="0" rIns="0" bIns="0">
            <a:spAutoFit/>
          </a:bodyPr>
          <a:lstStyle/>
          <a:p>
            <a:pPr algn="l">
              <a:lnSpc>
                <a:spcPct val="112000"/>
              </a:lnSpc>
              <a:spcBef>
                <a:spcPts val="0"/>
              </a:spcBef>
              <a:spcAft>
                <a:spcPts val="100"/>
              </a:spcAft>
            </a:pPr>
            <a:r>
              <a:rPr sz="1050" b="0" i="0">
                <a:solidFill>
                  <a:srgbClr val="DCE9F5"/>
                </a:solidFill>
                <a:latin typeface="Consolas"/>
              </a:rPr>
              <a:t>python Xlsx2CSV.py \</a:t>
            </a:r>
          </a:p>
          <a:p>
            <a:pPr algn="l">
              <a:lnSpc>
                <a:spcPct val="112000"/>
              </a:lnSpc>
              <a:spcBef>
                <a:spcPts val="0"/>
              </a:spcBef>
              <a:spcAft>
                <a:spcPts val="100"/>
              </a:spcAft>
            </a:pPr>
            <a:r>
              <a:rPr sz="1050" b="0" i="0">
                <a:solidFill>
                  <a:srgbClr val="DCE9F5"/>
                </a:solidFill>
                <a:latin typeface="Consolas"/>
              </a:rPr>
              <a:t>  --input  "..\dataXLSX" \</a:t>
            </a:r>
          </a:p>
          <a:p>
            <a:pPr algn="l">
              <a:lnSpc>
                <a:spcPct val="112000"/>
              </a:lnSpc>
              <a:spcBef>
                <a:spcPts val="0"/>
              </a:spcBef>
              <a:spcAft>
                <a:spcPts val="100"/>
              </a:spcAft>
            </a:pPr>
            <a:r>
              <a:rPr sz="1050" b="0" i="0">
                <a:solidFill>
                  <a:srgbClr val="DCE9F5"/>
                </a:solidFill>
                <a:latin typeface="Consolas"/>
              </a:rPr>
              <a:t>  --output "..\dataCSV"</a:t>
            </a:r>
          </a:p>
          <a:p>
            <a:pPr algn="l">
              <a:lnSpc>
                <a:spcPct val="112000"/>
              </a:lnSpc>
              <a:spcBef>
                <a:spcPts val="0"/>
              </a:spcBef>
              <a:spcAft>
                <a:spcPts val="100"/>
              </a:spcAft>
            </a:pPr>
            <a:r>
              <a:rPr sz="1050" b="0" i="0">
                <a:solidFill>
                  <a:srgbClr val="DCE9F5"/>
                </a:solidFill>
                <a:latin typeface="Consolas"/>
              </a:rPr>
              <a:t> </a:t>
            </a:r>
          </a:p>
          <a:p>
            <a:pPr algn="l">
              <a:lnSpc>
                <a:spcPct val="112000"/>
              </a:lnSpc>
              <a:spcBef>
                <a:spcPts val="0"/>
              </a:spcBef>
              <a:spcAft>
                <a:spcPts val="100"/>
              </a:spcAft>
            </a:pPr>
            <a:r>
              <a:rPr sz="1050" b="0" i="0">
                <a:solidFill>
                  <a:srgbClr val="DCE9F5"/>
                </a:solidFill>
                <a:latin typeface="Consolas"/>
              </a:rPr>
              <a:t>OK: AThi.xls        FAIL: file_hong.xlsx</a:t>
            </a:r>
          </a:p>
        </p:txBody>
      </p:sp>
      <p:sp>
        <p:nvSpPr>
          <p:cNvPr id="14" name="TextBox 13"/>
          <p:cNvSpPr txBox="1"/>
          <p:nvPr/>
        </p:nvSpPr>
        <p:spPr>
          <a:xfrm>
            <a:off x="685800" y="4133087"/>
            <a:ext cx="5394960" cy="1417320"/>
          </a:xfrm>
          <a:prstGeom prst="rect">
            <a:avLst/>
          </a:prstGeom>
          <a:noFill/>
        </p:spPr>
        <p:txBody>
          <a:bodyPr wrap="square" anchor="t" lIns="0" tIns="0" rIns="0" bIns="0">
            <a:spAutoFit/>
          </a:bodyPr>
          <a:lstStyle/>
          <a:p>
            <a:pPr algn="l">
              <a:lnSpc>
                <a:spcPct val="100000"/>
              </a:lnSpc>
              <a:spcBef>
                <a:spcPts val="0"/>
              </a:spcBef>
              <a:spcAft>
                <a:spcPts val="500"/>
              </a:spcAft>
            </a:pPr>
            <a:r>
              <a:rPr sz="1200" b="1" i="0">
                <a:solidFill>
                  <a:srgbClr val="0B2C4D"/>
                </a:solidFill>
                <a:latin typeface="Calibri"/>
              </a:rPr>
              <a:t>Tham số</a:t>
            </a:r>
          </a:p>
          <a:p>
            <a:pPr algn="l">
              <a:lnSpc>
                <a:spcPct val="100000"/>
              </a:lnSpc>
              <a:spcBef>
                <a:spcPts val="0"/>
              </a:spcBef>
              <a:spcAft>
                <a:spcPts val="300"/>
              </a:spcAft>
            </a:pPr>
            <a:r>
              <a:rPr sz="1000" b="0" i="0">
                <a:solidFill>
                  <a:srgbClr val="1769AA"/>
                </a:solidFill>
                <a:latin typeface="Consolas"/>
              </a:rPr>
              <a:t>--input</a:t>
            </a:r>
            <a:r>
              <a:rPr sz="1000" b="0" i="0">
                <a:solidFill>
                  <a:srgbClr val="526476"/>
                </a:solidFill>
                <a:latin typeface="Calibri"/>
              </a:rPr>
              <a:t>  thư mục chứa .xls/.xlsx (mặc định dataXLSX)</a:t>
            </a:r>
          </a:p>
          <a:p>
            <a:pPr algn="l">
              <a:lnSpc>
                <a:spcPct val="100000"/>
              </a:lnSpc>
              <a:spcBef>
                <a:spcPts val="0"/>
              </a:spcBef>
              <a:spcAft>
                <a:spcPts val="300"/>
              </a:spcAft>
            </a:pPr>
            <a:r>
              <a:rPr sz="1000" b="0" i="0">
                <a:solidFill>
                  <a:srgbClr val="1769AA"/>
                </a:solidFill>
                <a:latin typeface="Consolas"/>
              </a:rPr>
              <a:t>--output</a:t>
            </a:r>
            <a:r>
              <a:rPr sz="1000" b="0" i="0">
                <a:solidFill>
                  <a:srgbClr val="526476"/>
                </a:solidFill>
                <a:latin typeface="Calibri"/>
              </a:rPr>
              <a:t>  thư mục ghi CSV (mặc định dataCSV)</a:t>
            </a:r>
          </a:p>
          <a:p>
            <a:pPr algn="l">
              <a:lnSpc>
                <a:spcPct val="100000"/>
              </a:lnSpc>
              <a:spcBef>
                <a:spcPts val="0"/>
              </a:spcBef>
              <a:spcAft>
                <a:spcPts val="0"/>
              </a:spcAft>
            </a:pPr>
            <a:r>
              <a:rPr sz="1000" b="0" i="0">
                <a:solidFill>
                  <a:srgbClr val="3F7D28"/>
                </a:solidFill>
                <a:latin typeface="Consolas"/>
              </a:rPr>
              <a:t>stdout</a:t>
            </a:r>
            <a:r>
              <a:rPr sz="1000" b="0" i="0">
                <a:solidFill>
                  <a:srgbClr val="526476"/>
                </a:solidFill>
                <a:latin typeface="Calibri"/>
              </a:rPr>
              <a:t>  chuẩn hóa UTF-8 trên Windows</a:t>
            </a:r>
          </a:p>
        </p:txBody>
      </p:sp>
      <p:sp>
        <p:nvSpPr>
          <p:cNvPr id="15" name="Rounded Rectangle 14"/>
          <p:cNvSpPr/>
          <p:nvPr/>
        </p:nvSpPr>
        <p:spPr>
          <a:xfrm>
            <a:off x="6419088" y="1664208"/>
            <a:ext cx="5157216" cy="115214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19088" y="1664208"/>
            <a:ext cx="1170432" cy="1152144"/>
          </a:xfrm>
          <a:prstGeom prst="roundRect">
            <a:avLst>
              <a:gd name="adj" fmla="val 800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19088" y="1664208"/>
            <a:ext cx="1170432" cy="1152144"/>
          </a:xfrm>
          <a:prstGeom prst="rect">
            <a:avLst/>
          </a:prstGeom>
          <a:noFill/>
        </p:spPr>
        <p:txBody>
          <a:bodyPr wrap="square" anchor="ctr" lIns="0" tIns="0" rIns="0" bIns="0">
            <a:spAutoFit/>
          </a:bodyPr>
          <a:lstStyle/>
          <a:p>
            <a:pPr algn="ctr">
              <a:lnSpc>
                <a:spcPct val="100000"/>
              </a:lnSpc>
              <a:spcBef>
                <a:spcPts val="0"/>
              </a:spcBef>
              <a:spcAft>
                <a:spcPts val="0"/>
              </a:spcAft>
            </a:pPr>
            <a:r>
              <a:rPr sz="1100" b="1" i="0">
                <a:solidFill>
                  <a:srgbClr val="FFFFFF"/>
                </a:solidFill>
                <a:latin typeface="Calibri"/>
              </a:rPr>
              <a:t>XLSX</a:t>
            </a:r>
          </a:p>
        </p:txBody>
      </p:sp>
      <p:sp>
        <p:nvSpPr>
          <p:cNvPr id="18" name="TextBox 17"/>
          <p:cNvSpPr txBox="1"/>
          <p:nvPr/>
        </p:nvSpPr>
        <p:spPr>
          <a:xfrm>
            <a:off x="7754112" y="1819656"/>
            <a:ext cx="3675887"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0B2C4D"/>
                </a:solidFill>
                <a:latin typeface="Consolas"/>
              </a:rPr>
              <a:t>openpyxl</a:t>
            </a:r>
          </a:p>
        </p:txBody>
      </p:sp>
      <p:sp>
        <p:nvSpPr>
          <p:cNvPr id="19" name="TextBox 18"/>
          <p:cNvSpPr txBox="1"/>
          <p:nvPr/>
        </p:nvSpPr>
        <p:spPr>
          <a:xfrm>
            <a:off x="7754112" y="2139696"/>
            <a:ext cx="3675887" cy="603504"/>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load_workbook(data_only=True); đọc giá trị đã tính, không tự đánh giá công thức.</a:t>
            </a:r>
          </a:p>
        </p:txBody>
      </p:sp>
      <p:sp>
        <p:nvSpPr>
          <p:cNvPr id="20" name="Rounded Rectangle 19"/>
          <p:cNvSpPr/>
          <p:nvPr/>
        </p:nvSpPr>
        <p:spPr>
          <a:xfrm>
            <a:off x="6419088" y="2944368"/>
            <a:ext cx="5157216" cy="115214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19088" y="2944368"/>
            <a:ext cx="1170432" cy="1152144"/>
          </a:xfrm>
          <a:prstGeom prst="roundRect">
            <a:avLst>
              <a:gd name="adj" fmla="val 800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8" y="2944368"/>
            <a:ext cx="1170432" cy="1152144"/>
          </a:xfrm>
          <a:prstGeom prst="rect">
            <a:avLst/>
          </a:prstGeom>
          <a:noFill/>
        </p:spPr>
        <p:txBody>
          <a:bodyPr wrap="square" anchor="ctr" lIns="0" tIns="0" rIns="0" bIns="0">
            <a:spAutoFit/>
          </a:bodyPr>
          <a:lstStyle/>
          <a:p>
            <a:pPr algn="ctr">
              <a:lnSpc>
                <a:spcPct val="100000"/>
              </a:lnSpc>
              <a:spcBef>
                <a:spcPts val="0"/>
              </a:spcBef>
              <a:spcAft>
                <a:spcPts val="0"/>
              </a:spcAft>
            </a:pPr>
            <a:r>
              <a:rPr sz="1100" b="1" i="0">
                <a:solidFill>
                  <a:srgbClr val="FFFFFF"/>
                </a:solidFill>
                <a:latin typeface="Calibri"/>
              </a:rPr>
              <a:t>XLS</a:t>
            </a:r>
          </a:p>
        </p:txBody>
      </p:sp>
      <p:sp>
        <p:nvSpPr>
          <p:cNvPr id="23" name="TextBox 22"/>
          <p:cNvSpPr txBox="1"/>
          <p:nvPr/>
        </p:nvSpPr>
        <p:spPr>
          <a:xfrm>
            <a:off x="7754112" y="3099815"/>
            <a:ext cx="3675887"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0B2C4D"/>
                </a:solidFill>
                <a:latin typeface="Consolas"/>
              </a:rPr>
              <a:t>xlrd 1.2.0</a:t>
            </a:r>
          </a:p>
        </p:txBody>
      </p:sp>
      <p:sp>
        <p:nvSpPr>
          <p:cNvPr id="24" name="TextBox 23"/>
          <p:cNvSpPr txBox="1"/>
          <p:nvPr/>
        </p:nvSpPr>
        <p:spPr>
          <a:xfrm>
            <a:off x="7754112" y="3419856"/>
            <a:ext cx="3675887" cy="603504"/>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formatting_info=True để truy ra tên font; hỗ trợ nhận diện TCVN3.</a:t>
            </a:r>
          </a:p>
        </p:txBody>
      </p:sp>
      <p:sp>
        <p:nvSpPr>
          <p:cNvPr id="25" name="Rounded Rectangle 24"/>
          <p:cNvSpPr/>
          <p:nvPr/>
        </p:nvSpPr>
        <p:spPr>
          <a:xfrm>
            <a:off x="6419088" y="4224528"/>
            <a:ext cx="5157216" cy="115214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19088" y="4224528"/>
            <a:ext cx="1170432" cy="1152144"/>
          </a:xfrm>
          <a:prstGeom prst="roundRect">
            <a:avLst>
              <a:gd name="adj" fmla="val 800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19088" y="4224528"/>
            <a:ext cx="1170432" cy="1152144"/>
          </a:xfrm>
          <a:prstGeom prst="rect">
            <a:avLst/>
          </a:prstGeom>
          <a:noFill/>
        </p:spPr>
        <p:txBody>
          <a:bodyPr wrap="square" anchor="ctr" lIns="0" tIns="0" rIns="0" bIns="0">
            <a:spAutoFit/>
          </a:bodyPr>
          <a:lstStyle/>
          <a:p>
            <a:pPr algn="ctr">
              <a:lnSpc>
                <a:spcPct val="100000"/>
              </a:lnSpc>
              <a:spcBef>
                <a:spcPts val="0"/>
              </a:spcBef>
              <a:spcAft>
                <a:spcPts val="0"/>
              </a:spcAft>
            </a:pPr>
            <a:r>
              <a:rPr sz="1100" b="1" i="0">
                <a:solidFill>
                  <a:srgbClr val="FFFFFF"/>
                </a:solidFill>
                <a:latin typeface="Calibri"/>
              </a:rPr>
              <a:t>CSV</a:t>
            </a:r>
          </a:p>
        </p:txBody>
      </p:sp>
      <p:sp>
        <p:nvSpPr>
          <p:cNvPr id="28" name="TextBox 27"/>
          <p:cNvSpPr txBox="1"/>
          <p:nvPr/>
        </p:nvSpPr>
        <p:spPr>
          <a:xfrm>
            <a:off x="7754112" y="4379976"/>
            <a:ext cx="3675887"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0B2C4D"/>
                </a:solidFill>
                <a:latin typeface="Consolas"/>
              </a:rPr>
              <a:t>csv + utf-8-sig</a:t>
            </a:r>
          </a:p>
        </p:txBody>
      </p:sp>
      <p:sp>
        <p:nvSpPr>
          <p:cNvPr id="29" name="TextBox 28"/>
          <p:cNvSpPr txBox="1"/>
          <p:nvPr/>
        </p:nvSpPr>
        <p:spPr>
          <a:xfrm>
            <a:off x="7754112" y="4700016"/>
            <a:ext cx="3675887" cy="603504"/>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Ghi UTF-8 có BOM; mở đúng trong Excel và đọc tốt bằng pandas.</a:t>
            </a:r>
          </a:p>
        </p:txBody>
      </p:sp>
      <p:sp>
        <p:nvSpPr>
          <p:cNvPr id="30" name="Rounded Rectangle 29"/>
          <p:cNvSpPr/>
          <p:nvPr/>
        </p:nvSpPr>
        <p:spPr>
          <a:xfrm>
            <a:off x="6419088" y="5596128"/>
            <a:ext cx="5157216" cy="475488"/>
          </a:xfrm>
          <a:prstGeom prst="roundRect">
            <a:avLst>
              <a:gd name="adj" fmla="val 12000"/>
            </a:avLst>
          </a:prstGeom>
          <a:solidFill>
            <a:srgbClr val="FD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419088" y="5596128"/>
            <a:ext cx="68580" cy="475488"/>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675120" y="5641848"/>
            <a:ext cx="4745736" cy="384048"/>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Thiếu thư viện / sai phiên bản → báo lỗi kèm hướng dẫn cài đặt.</a:t>
            </a:r>
          </a:p>
        </p:txBody>
      </p:sp>
      <p:cxnSp>
        <p:nvCxnSpPr>
          <p:cNvPr id="33" name="Connector 32"/>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5" name="TextBox 34"/>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Thay thế hai pha để không chồng lấn ký tự</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CHUYỂN MÃ TCVN3 → UNICODE</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19072"/>
            <a:ext cx="5650992" cy="115214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1248" y="1920240"/>
            <a:ext cx="420624" cy="420624"/>
          </a:xfrm>
          <a:prstGeom prst="ellipse">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01</a:t>
            </a:r>
          </a:p>
        </p:txBody>
      </p:sp>
      <p:sp>
        <p:nvSpPr>
          <p:cNvPr id="11" name="TextBox 10"/>
          <p:cNvSpPr txBox="1"/>
          <p:nvPr/>
        </p:nvSpPr>
        <p:spPr>
          <a:xfrm>
            <a:off x="1444752" y="1865376"/>
            <a:ext cx="4681728"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Sắp xếp ánh xạ</a:t>
            </a:r>
          </a:p>
        </p:txBody>
      </p:sp>
      <p:sp>
        <p:nvSpPr>
          <p:cNvPr id="12" name="TextBox 11"/>
          <p:cNvSpPr txBox="1"/>
          <p:nvPr/>
        </p:nvSpPr>
        <p:spPr>
          <a:xfrm>
            <a:off x="1444752" y="2176272"/>
            <a:ext cx="4681728" cy="603504"/>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Ưu tiên cụm dài trước cụm ngắn; thứ tự kiểm chứng bằng thực nghiệm, không theo alphabet.</a:t>
            </a:r>
          </a:p>
        </p:txBody>
      </p:sp>
      <p:sp>
        <p:nvSpPr>
          <p:cNvPr id="13" name="Rounded Rectangle 12"/>
          <p:cNvSpPr/>
          <p:nvPr/>
        </p:nvSpPr>
        <p:spPr>
          <a:xfrm>
            <a:off x="658368" y="3035808"/>
            <a:ext cx="5650992" cy="115214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41248" y="3236976"/>
            <a:ext cx="420624" cy="420624"/>
          </a:xfrm>
          <a:prstGeom prst="ellipse">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02</a:t>
            </a:r>
          </a:p>
        </p:txBody>
      </p:sp>
      <p:sp>
        <p:nvSpPr>
          <p:cNvPr id="15" name="TextBox 14"/>
          <p:cNvSpPr txBox="1"/>
          <p:nvPr/>
        </p:nvSpPr>
        <p:spPr>
          <a:xfrm>
            <a:off x="1444752" y="3182112"/>
            <a:ext cx="4681728"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Pha 1 — placeholder</a:t>
            </a:r>
          </a:p>
        </p:txBody>
      </p:sp>
      <p:sp>
        <p:nvSpPr>
          <p:cNvPr id="16" name="TextBox 15"/>
          <p:cNvSpPr txBox="1"/>
          <p:nvPr/>
        </p:nvSpPr>
        <p:spPr>
          <a:xfrm>
            <a:off x="1444752" y="3493008"/>
            <a:ext cx="4681728" cy="603504"/>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Mỗi chuỗi nguồn được thay bằng ::i:: để cô lập, tránh thay lặp hoặc đè lẫn.</a:t>
            </a:r>
          </a:p>
        </p:txBody>
      </p:sp>
      <p:sp>
        <p:nvSpPr>
          <p:cNvPr id="17" name="Rounded Rectangle 16"/>
          <p:cNvSpPr/>
          <p:nvPr/>
        </p:nvSpPr>
        <p:spPr>
          <a:xfrm>
            <a:off x="658368" y="4352544"/>
            <a:ext cx="5650992" cy="1152144"/>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41248" y="4553712"/>
            <a:ext cx="420624" cy="420624"/>
          </a:xfrm>
          <a:prstGeom prst="ellipse">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03</a:t>
            </a:r>
          </a:p>
        </p:txBody>
      </p:sp>
      <p:sp>
        <p:nvSpPr>
          <p:cNvPr id="19" name="TextBox 18"/>
          <p:cNvSpPr txBox="1"/>
          <p:nvPr/>
        </p:nvSpPr>
        <p:spPr>
          <a:xfrm>
            <a:off x="1444752" y="4498848"/>
            <a:ext cx="4681728"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Pha 2 — Unicode</a:t>
            </a:r>
          </a:p>
        </p:txBody>
      </p:sp>
      <p:sp>
        <p:nvSpPr>
          <p:cNvPr id="20" name="TextBox 19"/>
          <p:cNvSpPr txBox="1"/>
          <p:nvPr/>
        </p:nvSpPr>
        <p:spPr>
          <a:xfrm>
            <a:off x="1444752" y="4809744"/>
            <a:ext cx="4681728" cy="603504"/>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Thay từng placeholder bằng ký tự đích; chuỗi sau chuyển mã giữ nguyên số và dấu câu.</a:t>
            </a:r>
          </a:p>
        </p:txBody>
      </p:sp>
      <p:sp>
        <p:nvSpPr>
          <p:cNvPr id="21" name="Rounded Rectangle 20"/>
          <p:cNvSpPr/>
          <p:nvPr/>
        </p:nvSpPr>
        <p:spPr>
          <a:xfrm>
            <a:off x="658368" y="5623560"/>
            <a:ext cx="5650992" cy="530352"/>
          </a:xfrm>
          <a:prstGeom prst="roundRect">
            <a:avLst>
              <a:gd name="adj" fmla="val 12000"/>
            </a:avLst>
          </a:prstGeom>
          <a:solidFill>
            <a:srgbClr val="EC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658368" y="5623560"/>
            <a:ext cx="68580" cy="530352"/>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5669280"/>
            <a:ext cx="5239512" cy="438912"/>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Điều kiện áp dụng: font TCVN3  hoặc  chuỗi có marker đặc trưng.</a:t>
            </a:r>
          </a:p>
        </p:txBody>
      </p:sp>
      <p:sp>
        <p:nvSpPr>
          <p:cNvPr id="24" name="TextBox 23"/>
          <p:cNvSpPr txBox="1"/>
          <p:nvPr/>
        </p:nvSpPr>
        <p:spPr>
          <a:xfrm>
            <a:off x="6601968" y="1700784"/>
            <a:ext cx="507492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80">
                <a:solidFill>
                  <a:srgbClr val="1769AA"/>
                </a:solidFill>
                <a:latin typeface="Calibri"/>
              </a:rPr>
              <a:t>MÃ GIẢ</a:t>
            </a:r>
          </a:p>
        </p:txBody>
      </p:sp>
      <p:sp>
        <p:nvSpPr>
          <p:cNvPr id="25" name="Rounded Rectangle 24"/>
          <p:cNvSpPr/>
          <p:nvPr/>
        </p:nvSpPr>
        <p:spPr>
          <a:xfrm>
            <a:off x="6601968" y="1975104"/>
            <a:ext cx="4983480" cy="2212848"/>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03136" y="2121408"/>
            <a:ext cx="4617720" cy="228600"/>
          </a:xfrm>
          <a:prstGeom prst="rect">
            <a:avLst/>
          </a:prstGeom>
          <a:noFill/>
        </p:spPr>
        <p:txBody>
          <a:bodyPr wrap="square" anchor="t" lIns="0" tIns="0" rIns="0" bIns="0">
            <a:spAutoFit/>
          </a:bodyPr>
          <a:lstStyle/>
          <a:p>
            <a:pPr algn="l">
              <a:lnSpc>
                <a:spcPct val="100000"/>
              </a:lnSpc>
              <a:spcBef>
                <a:spcPts val="0"/>
              </a:spcBef>
              <a:spcAft>
                <a:spcPts val="0"/>
              </a:spcAft>
            </a:pPr>
            <a:r>
              <a:rPr sz="900" b="1" i="0" spc="40">
                <a:solidFill>
                  <a:srgbClr val="8FB6D9"/>
                </a:solidFill>
                <a:latin typeface="Consolas"/>
              </a:rPr>
              <a:t>two_phase_replace.py</a:t>
            </a:r>
          </a:p>
        </p:txBody>
      </p:sp>
      <p:cxnSp>
        <p:nvCxnSpPr>
          <p:cNvPr id="27" name="Connector 26"/>
          <p:cNvCxnSpPr/>
          <p:nvPr/>
        </p:nvCxnSpPr>
        <p:spPr>
          <a:xfrm>
            <a:off x="6766559" y="2395728"/>
            <a:ext cx="4654297" cy="0"/>
          </a:xfrm>
          <a:prstGeom prst="line">
            <a:avLst/>
          </a:prstGeom>
          <a:ln w="9525">
            <a:solidFill>
              <a:srgbClr val="27486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03136" y="2487168"/>
            <a:ext cx="4617720" cy="1591055"/>
          </a:xfrm>
          <a:prstGeom prst="rect">
            <a:avLst/>
          </a:prstGeom>
          <a:noFill/>
        </p:spPr>
        <p:txBody>
          <a:bodyPr wrap="square" anchor="t" lIns="0" tIns="0" rIns="0" bIns="0">
            <a:spAutoFit/>
          </a:bodyPr>
          <a:lstStyle/>
          <a:p>
            <a:pPr algn="l">
              <a:lnSpc>
                <a:spcPct val="112000"/>
              </a:lnSpc>
              <a:spcBef>
                <a:spcPts val="0"/>
              </a:spcBef>
              <a:spcAft>
                <a:spcPts val="100"/>
              </a:spcAft>
            </a:pPr>
            <a:r>
              <a:rPr sz="1050" b="0" i="0">
                <a:solidFill>
                  <a:srgbClr val="DCE9F5"/>
                </a:solidFill>
                <a:latin typeface="Consolas"/>
              </a:rPr>
              <a:t>for i, (src, dst) in enumerate(pairs):</a:t>
            </a:r>
          </a:p>
          <a:p>
            <a:pPr algn="l">
              <a:lnSpc>
                <a:spcPct val="112000"/>
              </a:lnSpc>
              <a:spcBef>
                <a:spcPts val="0"/>
              </a:spcBef>
              <a:spcAft>
                <a:spcPts val="100"/>
              </a:spcAft>
            </a:pPr>
            <a:r>
              <a:rPr sz="1050" b="0" i="0">
                <a:solidFill>
                  <a:srgbClr val="DCE9F5"/>
                </a:solidFill>
                <a:latin typeface="Consolas"/>
              </a:rPr>
              <a:t>    text = text.replace(src, f'::{i}::')</a:t>
            </a:r>
          </a:p>
          <a:p>
            <a:pPr algn="l">
              <a:lnSpc>
                <a:spcPct val="112000"/>
              </a:lnSpc>
              <a:spcBef>
                <a:spcPts val="0"/>
              </a:spcBef>
              <a:spcAft>
                <a:spcPts val="100"/>
              </a:spcAft>
            </a:pPr>
            <a:r>
              <a:rPr sz="1050" b="0" i="0">
                <a:solidFill>
                  <a:srgbClr val="DCE9F5"/>
                </a:solidFill>
                <a:latin typeface="Consolas"/>
              </a:rPr>
              <a:t> </a:t>
            </a:r>
          </a:p>
          <a:p>
            <a:pPr algn="l">
              <a:lnSpc>
                <a:spcPct val="112000"/>
              </a:lnSpc>
              <a:spcBef>
                <a:spcPts val="0"/>
              </a:spcBef>
              <a:spcAft>
                <a:spcPts val="100"/>
              </a:spcAft>
            </a:pPr>
            <a:r>
              <a:rPr sz="1050" b="0" i="0">
                <a:solidFill>
                  <a:srgbClr val="DCE9F5"/>
                </a:solidFill>
                <a:latin typeface="Consolas"/>
              </a:rPr>
              <a:t>for i, (src, dst) in enumerate(pairs):</a:t>
            </a:r>
          </a:p>
          <a:p>
            <a:pPr algn="l">
              <a:lnSpc>
                <a:spcPct val="112000"/>
              </a:lnSpc>
              <a:spcBef>
                <a:spcPts val="0"/>
              </a:spcBef>
              <a:spcAft>
                <a:spcPts val="100"/>
              </a:spcAft>
            </a:pPr>
            <a:r>
              <a:rPr sz="1050" b="0" i="0">
                <a:solidFill>
                  <a:srgbClr val="DCE9F5"/>
                </a:solidFill>
                <a:latin typeface="Consolas"/>
              </a:rPr>
              <a:t>    text = text.replace(f'::{i}::', dst)</a:t>
            </a:r>
          </a:p>
        </p:txBody>
      </p:sp>
      <p:sp>
        <p:nvSpPr>
          <p:cNvPr id="29" name="TextBox 28"/>
          <p:cNvSpPr txBox="1"/>
          <p:nvPr/>
        </p:nvSpPr>
        <p:spPr>
          <a:xfrm>
            <a:off x="6601968" y="4407408"/>
            <a:ext cx="4983480" cy="841248"/>
          </a:xfrm>
          <a:prstGeom prst="rect">
            <a:avLst/>
          </a:prstGeom>
          <a:noFill/>
        </p:spPr>
        <p:txBody>
          <a:bodyPr wrap="square" anchor="t" lIns="0" tIns="0" rIns="0" bIns="0">
            <a:spAutoFit/>
          </a:bodyPr>
          <a:lstStyle/>
          <a:p>
            <a:pPr algn="l">
              <a:lnSpc>
                <a:spcPct val="112000"/>
              </a:lnSpc>
              <a:spcBef>
                <a:spcPts val="0"/>
              </a:spcBef>
              <a:spcAft>
                <a:spcPts val="0"/>
              </a:spcAft>
            </a:pPr>
            <a:r>
              <a:rPr sz="1100" b="0" i="0">
                <a:solidFill>
                  <a:srgbClr val="526476"/>
                </a:solidFill>
                <a:latin typeface="Calibri"/>
              </a:rPr>
              <a:t>Vì chuyển đổi là một chiều và có thể trùng với mã đã có, cần kiểm chứng thứ tự bằng dữ liệu thật trước khi mở rộng bảng ánh xạ.</a:t>
            </a:r>
          </a:p>
        </p:txBody>
      </p:sp>
      <p:sp>
        <p:nvSpPr>
          <p:cNvPr id="30" name="Rounded Rectangle 29"/>
          <p:cNvSpPr/>
          <p:nvPr/>
        </p:nvSpPr>
        <p:spPr>
          <a:xfrm>
            <a:off x="6601968" y="5394960"/>
            <a:ext cx="4983480" cy="749808"/>
          </a:xfrm>
          <a:prstGeom prst="roundRect">
            <a:avLst>
              <a:gd name="adj" fmla="val 8000"/>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03136" y="5468112"/>
            <a:ext cx="4617720" cy="603504"/>
          </a:xfrm>
          <a:prstGeom prst="rect">
            <a:avLst/>
          </a:prstGeom>
          <a:noFill/>
        </p:spPr>
        <p:txBody>
          <a:bodyPr wrap="square" anchor="ctr" lIns="0" tIns="0" rIns="0" bIns="0">
            <a:spAutoFit/>
          </a:bodyPr>
          <a:lstStyle/>
          <a:p>
            <a:pPr algn="l">
              <a:lnSpc>
                <a:spcPct val="100000"/>
              </a:lnSpc>
              <a:spcBef>
                <a:spcPts val="0"/>
              </a:spcBef>
              <a:spcAft>
                <a:spcPts val="0"/>
              </a:spcAft>
            </a:pPr>
            <a:r>
              <a:rPr sz="1050" b="1" i="0">
                <a:solidFill>
                  <a:srgbClr val="0B2C4D"/>
                </a:solidFill>
                <a:latin typeface="Calibri"/>
              </a:rPr>
              <a:t>Kết quả: </a:t>
            </a:r>
            <a:r>
              <a:rPr sz="1050" b="0" i="0">
                <a:solidFill>
                  <a:srgbClr val="10507F"/>
                </a:solidFill>
                <a:latin typeface="Calibri"/>
              </a:rPr>
              <a:t>b¸o c¸o kÕt qu¶  →  báo cáo kết quả</a:t>
            </a:r>
          </a:p>
        </p:txBody>
      </p:sp>
      <p:cxnSp>
        <p:nvCxnSpPr>
          <p:cNvPr id="32" name="Connector 31"/>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4" name="TextBox 33"/>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Mỗi sheet là một đơn vị truy vết độc lập</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XUẤT CSV &amp; ĐẶT TÊN TỆP</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1737360"/>
            <a:ext cx="10972800" cy="1097280"/>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901952"/>
            <a:ext cx="192024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70">
                <a:solidFill>
                  <a:srgbClr val="1769AA"/>
                </a:solidFill>
                <a:latin typeface="Calibri"/>
              </a:rPr>
              <a:t>QUY ƯỚC TÊN</a:t>
            </a:r>
          </a:p>
        </p:txBody>
      </p:sp>
      <p:sp>
        <p:nvSpPr>
          <p:cNvPr id="11" name="TextBox 10"/>
          <p:cNvSpPr txBox="1"/>
          <p:nvPr/>
        </p:nvSpPr>
        <p:spPr>
          <a:xfrm>
            <a:off x="914400" y="2212848"/>
            <a:ext cx="10424160" cy="475488"/>
          </a:xfrm>
          <a:prstGeom prst="rect">
            <a:avLst/>
          </a:prstGeom>
          <a:noFill/>
        </p:spPr>
        <p:txBody>
          <a:bodyPr wrap="square" anchor="t" lIns="0" tIns="0" rIns="0" bIns="0">
            <a:spAutoFit/>
          </a:bodyPr>
          <a:lstStyle/>
          <a:p>
            <a:pPr algn="l">
              <a:lnSpc>
                <a:spcPct val="100000"/>
              </a:lnSpc>
              <a:spcBef>
                <a:spcPts val="0"/>
              </a:spcBef>
              <a:spcAft>
                <a:spcPts val="0"/>
              </a:spcAft>
            </a:pPr>
            <a:r>
              <a:rPr sz="2000" b="1" i="0">
                <a:solidFill>
                  <a:srgbClr val="0B2C4D"/>
                </a:solidFill>
                <a:latin typeface="Consolas"/>
              </a:rPr>
              <a:t>TH  bc vo.xls</a:t>
            </a:r>
            <a:r>
              <a:rPr sz="2000" b="1" i="0">
                <a:solidFill>
                  <a:srgbClr val="E8891C"/>
                </a:solidFill>
                <a:latin typeface="Consolas"/>
              </a:rPr>
              <a:t>_</a:t>
            </a:r>
            <a:r>
              <a:rPr sz="2000" b="1" i="0">
                <a:solidFill>
                  <a:srgbClr val="5FA83C"/>
                </a:solidFill>
                <a:latin typeface="Consolas"/>
              </a:rPr>
              <a:t>6445</a:t>
            </a:r>
            <a:r>
              <a:rPr sz="2000" b="1" i="0">
                <a:solidFill>
                  <a:srgbClr val="8593A1"/>
                </a:solidFill>
                <a:latin typeface="Consolas"/>
              </a:rPr>
              <a:t>.csv</a:t>
            </a:r>
            <a:r>
              <a:rPr sz="1100" b="0" i="0">
                <a:solidFill>
                  <a:srgbClr val="526476"/>
                </a:solidFill>
                <a:latin typeface="Calibri"/>
              </a:rPr>
              <a:t>      tên_file_gốc  +  tên_sheet  +  .csv</a:t>
            </a:r>
          </a:p>
        </p:txBody>
      </p:sp>
      <p:sp>
        <p:nvSpPr>
          <p:cNvPr id="12" name="TextBox 11"/>
          <p:cNvSpPr txBox="1"/>
          <p:nvPr/>
        </p:nvSpPr>
        <p:spPr>
          <a:xfrm>
            <a:off x="713232" y="3090672"/>
            <a:ext cx="274320"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3" name="TextBox 12"/>
          <p:cNvSpPr txBox="1"/>
          <p:nvPr/>
        </p:nvSpPr>
        <p:spPr>
          <a:xfrm>
            <a:off x="1005840" y="3081528"/>
            <a:ext cx="4846320" cy="256032"/>
          </a:xfrm>
          <a:prstGeom prst="rect">
            <a:avLst/>
          </a:prstGeom>
          <a:noFill/>
        </p:spPr>
        <p:txBody>
          <a:bodyPr wrap="square" anchor="t" lIns="0" tIns="0" rIns="0" bIns="0">
            <a:spAutoFit/>
          </a:bodyPr>
          <a:lstStyle/>
          <a:p>
            <a:pPr algn="l">
              <a:lnSpc>
                <a:spcPct val="100000"/>
              </a:lnSpc>
              <a:spcBef>
                <a:spcPts val="0"/>
              </a:spcBef>
              <a:spcAft>
                <a:spcPts val="0"/>
              </a:spcAft>
            </a:pPr>
            <a:r>
              <a:rPr sz="1150" b="1" i="0">
                <a:solidFill>
                  <a:srgbClr val="0B2C4D"/>
                </a:solidFill>
                <a:latin typeface="Calibri"/>
              </a:rPr>
              <a:t>Bỏ sheet rỗng</a:t>
            </a:r>
          </a:p>
        </p:txBody>
      </p:sp>
      <p:sp>
        <p:nvSpPr>
          <p:cNvPr id="14" name="TextBox 13"/>
          <p:cNvSpPr txBox="1"/>
          <p:nvPr/>
        </p:nvSpPr>
        <p:spPr>
          <a:xfrm>
            <a:off x="1005840" y="3337560"/>
            <a:ext cx="4846320" cy="365760"/>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Sheet không có ô dữ liệu khả dụng sẽ không tạo CSV.</a:t>
            </a:r>
          </a:p>
        </p:txBody>
      </p:sp>
      <p:sp>
        <p:nvSpPr>
          <p:cNvPr id="15" name="TextBox 14"/>
          <p:cNvSpPr txBox="1"/>
          <p:nvPr/>
        </p:nvSpPr>
        <p:spPr>
          <a:xfrm>
            <a:off x="713232" y="3803904"/>
            <a:ext cx="274320"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6" name="TextBox 15"/>
          <p:cNvSpPr txBox="1"/>
          <p:nvPr/>
        </p:nvSpPr>
        <p:spPr>
          <a:xfrm>
            <a:off x="1005840" y="3794760"/>
            <a:ext cx="4846320" cy="256032"/>
          </a:xfrm>
          <a:prstGeom prst="rect">
            <a:avLst/>
          </a:prstGeom>
          <a:noFill/>
        </p:spPr>
        <p:txBody>
          <a:bodyPr wrap="square" anchor="t" lIns="0" tIns="0" rIns="0" bIns="0">
            <a:spAutoFit/>
          </a:bodyPr>
          <a:lstStyle/>
          <a:p>
            <a:pPr algn="l">
              <a:lnSpc>
                <a:spcPct val="100000"/>
              </a:lnSpc>
              <a:spcBef>
                <a:spcPts val="0"/>
              </a:spcBef>
              <a:spcAft>
                <a:spcPts val="0"/>
              </a:spcAft>
            </a:pPr>
            <a:r>
              <a:rPr sz="1150" b="1" i="0">
                <a:solidFill>
                  <a:srgbClr val="0B2C4D"/>
                </a:solidFill>
                <a:latin typeface="Calibri"/>
              </a:rPr>
              <a:t>Làm sạch tên</a:t>
            </a:r>
          </a:p>
        </p:txBody>
      </p:sp>
      <p:sp>
        <p:nvSpPr>
          <p:cNvPr id="17" name="TextBox 16"/>
          <p:cNvSpPr txBox="1"/>
          <p:nvPr/>
        </p:nvSpPr>
        <p:spPr>
          <a:xfrm>
            <a:off x="1005840" y="4050791"/>
            <a:ext cx="4846320" cy="365760"/>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Loại ký tự không hợp lệ trên Windows, giới hạn độ dài hợp lý.</a:t>
            </a:r>
          </a:p>
        </p:txBody>
      </p:sp>
      <p:sp>
        <p:nvSpPr>
          <p:cNvPr id="18" name="TextBox 17"/>
          <p:cNvSpPr txBox="1"/>
          <p:nvPr/>
        </p:nvSpPr>
        <p:spPr>
          <a:xfrm>
            <a:off x="713232" y="4517136"/>
            <a:ext cx="274320"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9" name="TextBox 18"/>
          <p:cNvSpPr txBox="1"/>
          <p:nvPr/>
        </p:nvSpPr>
        <p:spPr>
          <a:xfrm>
            <a:off x="1005840" y="4507992"/>
            <a:ext cx="4846320" cy="256032"/>
          </a:xfrm>
          <a:prstGeom prst="rect">
            <a:avLst/>
          </a:prstGeom>
          <a:noFill/>
        </p:spPr>
        <p:txBody>
          <a:bodyPr wrap="square" anchor="t" lIns="0" tIns="0" rIns="0" bIns="0">
            <a:spAutoFit/>
          </a:bodyPr>
          <a:lstStyle/>
          <a:p>
            <a:pPr algn="l">
              <a:lnSpc>
                <a:spcPct val="100000"/>
              </a:lnSpc>
              <a:spcBef>
                <a:spcPts val="0"/>
              </a:spcBef>
              <a:spcAft>
                <a:spcPts val="0"/>
              </a:spcAft>
            </a:pPr>
            <a:r>
              <a:rPr sz="1150" b="1" i="0">
                <a:solidFill>
                  <a:srgbClr val="0B2C4D"/>
                </a:solidFill>
                <a:latin typeface="Calibri"/>
              </a:rPr>
              <a:t>UTF-8 có BOM</a:t>
            </a:r>
          </a:p>
        </p:txBody>
      </p:sp>
      <p:sp>
        <p:nvSpPr>
          <p:cNvPr id="20" name="TextBox 19"/>
          <p:cNvSpPr txBox="1"/>
          <p:nvPr/>
        </p:nvSpPr>
        <p:spPr>
          <a:xfrm>
            <a:off x="1005840" y="4764023"/>
            <a:ext cx="4846320" cy="365760"/>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Mở đúng tiếng Việt trong Excel; đọc tốt bằng pandas.</a:t>
            </a:r>
          </a:p>
        </p:txBody>
      </p:sp>
      <p:sp>
        <p:nvSpPr>
          <p:cNvPr id="21" name="TextBox 20"/>
          <p:cNvSpPr txBox="1"/>
          <p:nvPr/>
        </p:nvSpPr>
        <p:spPr>
          <a:xfrm>
            <a:off x="713232" y="5230368"/>
            <a:ext cx="274320" cy="274320"/>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22" name="TextBox 21"/>
          <p:cNvSpPr txBox="1"/>
          <p:nvPr/>
        </p:nvSpPr>
        <p:spPr>
          <a:xfrm>
            <a:off x="1005840" y="5221224"/>
            <a:ext cx="4846320" cy="256032"/>
          </a:xfrm>
          <a:prstGeom prst="rect">
            <a:avLst/>
          </a:prstGeom>
          <a:noFill/>
        </p:spPr>
        <p:txBody>
          <a:bodyPr wrap="square" anchor="t" lIns="0" tIns="0" rIns="0" bIns="0">
            <a:spAutoFit/>
          </a:bodyPr>
          <a:lstStyle/>
          <a:p>
            <a:pPr algn="l">
              <a:lnSpc>
                <a:spcPct val="100000"/>
              </a:lnSpc>
              <a:spcBef>
                <a:spcPts val="0"/>
              </a:spcBef>
              <a:spcAft>
                <a:spcPts val="0"/>
              </a:spcAft>
            </a:pPr>
            <a:r>
              <a:rPr sz="1150" b="1" i="0">
                <a:solidFill>
                  <a:srgbClr val="0B2C4D"/>
                </a:solidFill>
                <a:latin typeface="Calibri"/>
              </a:rPr>
              <a:t>Giữ cấu trúc lưới</a:t>
            </a:r>
          </a:p>
        </p:txBody>
      </p:sp>
      <p:sp>
        <p:nvSpPr>
          <p:cNvPr id="23" name="TextBox 22"/>
          <p:cNvSpPr txBox="1"/>
          <p:nvPr/>
        </p:nvSpPr>
        <p:spPr>
          <a:xfrm>
            <a:off x="1005840" y="5477256"/>
            <a:ext cx="4846320" cy="365760"/>
          </a:xfrm>
          <a:prstGeom prst="rect">
            <a:avLst/>
          </a:prstGeom>
          <a:noFill/>
        </p:spPr>
        <p:txBody>
          <a:bodyPr wrap="square" anchor="t" lIns="0" tIns="0" rIns="0" bIns="0">
            <a:spAutoFit/>
          </a:bodyPr>
          <a:lstStyle/>
          <a:p>
            <a:pPr algn="l">
              <a:lnSpc>
                <a:spcPct val="100000"/>
              </a:lnSpc>
              <a:spcBef>
                <a:spcPts val="0"/>
              </a:spcBef>
              <a:spcAft>
                <a:spcPts val="0"/>
              </a:spcAft>
            </a:pPr>
            <a:r>
              <a:rPr sz="950" b="0" i="0">
                <a:solidFill>
                  <a:srgbClr val="526476"/>
                </a:solidFill>
                <a:latin typeface="Calibri"/>
              </a:rPr>
              <a:t>Hàng/cột và ô trống được bảo toàn để truy vết nguồn.</a:t>
            </a:r>
          </a:p>
        </p:txBody>
      </p:sp>
      <p:sp>
        <p:nvSpPr>
          <p:cNvPr id="24" name="Rounded Rectangle 23"/>
          <p:cNvSpPr/>
          <p:nvPr/>
        </p:nvSpPr>
        <p:spPr>
          <a:xfrm>
            <a:off x="6144768" y="2999232"/>
            <a:ext cx="5504688" cy="2395728"/>
          </a:xfrm>
          <a:prstGeom prst="roundRect">
            <a:avLst>
              <a:gd name="adj" fmla="val 6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45936" y="3145536"/>
            <a:ext cx="5138927" cy="228600"/>
          </a:xfrm>
          <a:prstGeom prst="rect">
            <a:avLst/>
          </a:prstGeom>
          <a:noFill/>
        </p:spPr>
        <p:txBody>
          <a:bodyPr wrap="square" anchor="t" lIns="0" tIns="0" rIns="0" bIns="0">
            <a:spAutoFit/>
          </a:bodyPr>
          <a:lstStyle/>
          <a:p>
            <a:pPr algn="l">
              <a:lnSpc>
                <a:spcPct val="100000"/>
              </a:lnSpc>
              <a:spcBef>
                <a:spcPts val="0"/>
              </a:spcBef>
              <a:spcAft>
                <a:spcPts val="0"/>
              </a:spcAft>
            </a:pPr>
            <a:r>
              <a:rPr sz="900" b="1" i="0" spc="40">
                <a:solidFill>
                  <a:srgbClr val="8FB6D9"/>
                </a:solidFill>
                <a:latin typeface="Consolas"/>
              </a:rPr>
              <a:t>write_csv.py</a:t>
            </a:r>
          </a:p>
        </p:txBody>
      </p:sp>
      <p:cxnSp>
        <p:nvCxnSpPr>
          <p:cNvPr id="26" name="Connector 25"/>
          <p:cNvCxnSpPr/>
          <p:nvPr/>
        </p:nvCxnSpPr>
        <p:spPr>
          <a:xfrm>
            <a:off x="6309359" y="3419856"/>
            <a:ext cx="5175504" cy="0"/>
          </a:xfrm>
          <a:prstGeom prst="line">
            <a:avLst/>
          </a:prstGeom>
          <a:ln w="9525">
            <a:solidFill>
              <a:srgbClr val="27486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45936" y="3511296"/>
            <a:ext cx="5138927" cy="1773936"/>
          </a:xfrm>
          <a:prstGeom prst="rect">
            <a:avLst/>
          </a:prstGeom>
          <a:noFill/>
        </p:spPr>
        <p:txBody>
          <a:bodyPr wrap="square" anchor="t" lIns="0" tIns="0" rIns="0" bIns="0">
            <a:spAutoFit/>
          </a:bodyPr>
          <a:lstStyle/>
          <a:p>
            <a:pPr algn="l">
              <a:lnSpc>
                <a:spcPct val="112000"/>
              </a:lnSpc>
              <a:spcBef>
                <a:spcPts val="0"/>
              </a:spcBef>
              <a:spcAft>
                <a:spcPts val="100"/>
              </a:spcAft>
            </a:pPr>
            <a:r>
              <a:rPr sz="1050" b="0" i="0">
                <a:solidFill>
                  <a:srgbClr val="DCE9F5"/>
                </a:solidFill>
                <a:latin typeface="Consolas"/>
              </a:rPr>
              <a:t>with path.open('w', newline='',</a:t>
            </a:r>
          </a:p>
          <a:p>
            <a:pPr algn="l">
              <a:lnSpc>
                <a:spcPct val="112000"/>
              </a:lnSpc>
              <a:spcBef>
                <a:spcPts val="0"/>
              </a:spcBef>
              <a:spcAft>
                <a:spcPts val="100"/>
              </a:spcAft>
            </a:pPr>
            <a:r>
              <a:rPr sz="1050" b="0" i="0">
                <a:solidFill>
                  <a:srgbClr val="DCE9F5"/>
                </a:solidFill>
                <a:latin typeface="Consolas"/>
              </a:rPr>
              <a:t>                encoding='utf-8-sig') as f:</a:t>
            </a:r>
          </a:p>
          <a:p>
            <a:pPr algn="l">
              <a:lnSpc>
                <a:spcPct val="112000"/>
              </a:lnSpc>
              <a:spcBef>
                <a:spcPts val="0"/>
              </a:spcBef>
              <a:spcAft>
                <a:spcPts val="100"/>
              </a:spcAft>
            </a:pPr>
            <a:r>
              <a:rPr sz="1050" b="0" i="0">
                <a:solidFill>
                  <a:srgbClr val="DCE9F5"/>
                </a:solidFill>
                <a:latin typeface="Consolas"/>
              </a:rPr>
              <a:t>    w = csv.writer(f)</a:t>
            </a:r>
          </a:p>
          <a:p>
            <a:pPr algn="l">
              <a:lnSpc>
                <a:spcPct val="112000"/>
              </a:lnSpc>
              <a:spcBef>
                <a:spcPts val="0"/>
              </a:spcBef>
              <a:spcAft>
                <a:spcPts val="100"/>
              </a:spcAft>
            </a:pPr>
            <a:r>
              <a:rPr sz="1050" b="0" i="0">
                <a:solidFill>
                  <a:srgbClr val="DCE9F5"/>
                </a:solidFill>
                <a:latin typeface="Consolas"/>
              </a:rPr>
              <a:t>    for r in rows:</a:t>
            </a:r>
          </a:p>
          <a:p>
            <a:pPr algn="l">
              <a:lnSpc>
                <a:spcPct val="112000"/>
              </a:lnSpc>
              <a:spcBef>
                <a:spcPts val="0"/>
              </a:spcBef>
              <a:spcAft>
                <a:spcPts val="100"/>
              </a:spcAft>
            </a:pPr>
            <a:r>
              <a:rPr sz="1050" b="0" i="0">
                <a:solidFill>
                  <a:srgbClr val="DCE9F5"/>
                </a:solidFill>
                <a:latin typeface="Consolas"/>
              </a:rPr>
              <a:t>        w.writerow(['' if v is None else v</a:t>
            </a:r>
          </a:p>
          <a:p>
            <a:pPr algn="l">
              <a:lnSpc>
                <a:spcPct val="112000"/>
              </a:lnSpc>
              <a:spcBef>
                <a:spcPts val="0"/>
              </a:spcBef>
              <a:spcAft>
                <a:spcPts val="100"/>
              </a:spcAft>
            </a:pPr>
            <a:r>
              <a:rPr sz="1050" b="0" i="0">
                <a:solidFill>
                  <a:srgbClr val="DCE9F5"/>
                </a:solidFill>
                <a:latin typeface="Consolas"/>
              </a:rPr>
              <a:t>                    for v in r])</a:t>
            </a:r>
          </a:p>
        </p:txBody>
      </p:sp>
      <p:sp>
        <p:nvSpPr>
          <p:cNvPr id="28" name="TextBox 27"/>
          <p:cNvSpPr txBox="1"/>
          <p:nvPr/>
        </p:nvSpPr>
        <p:spPr>
          <a:xfrm>
            <a:off x="6144768" y="5504688"/>
            <a:ext cx="5504688" cy="411480"/>
          </a:xfrm>
          <a:prstGeom prst="rect">
            <a:avLst/>
          </a:prstGeom>
          <a:noFill/>
        </p:spPr>
        <p:txBody>
          <a:bodyPr wrap="square" anchor="t" lIns="0" tIns="0" rIns="0" bIns="0">
            <a:spAutoFit/>
          </a:bodyPr>
          <a:lstStyle/>
          <a:p>
            <a:pPr algn="l">
              <a:lnSpc>
                <a:spcPct val="100000"/>
              </a:lnSpc>
              <a:spcBef>
                <a:spcPts val="0"/>
              </a:spcBef>
              <a:spcAft>
                <a:spcPts val="0"/>
              </a:spcAft>
            </a:pPr>
            <a:r>
              <a:rPr sz="950" b="0" i="1">
                <a:solidFill>
                  <a:srgbClr val="526476"/>
                </a:solidFill>
                <a:latin typeface="Calibri"/>
              </a:rPr>
              <a:t>Ô None → ô trống; không tự ý đổi kiểu số hay đơn vị.</a:t>
            </a:r>
          </a:p>
        </p:txBody>
      </p:sp>
      <p:cxnSp>
        <p:nvCxnSpPr>
          <p:cNvPr id="29" name="Connector 28"/>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1" name="TextBox 30"/>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300" b="1">
                <a:solidFill>
                  <a:srgbClr val="0B2C4D"/>
                </a:solidFill>
                <a:latin typeface="Calibri"/>
              </a:rPr>
              <a:t>Định lượng bằng số tệp, định tính bằng chuỗi tiếng Việt</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02  </a:t>
            </a:r>
            <a:r>
              <a:rPr sz="1100" b="1" i="0" spc="100">
                <a:solidFill>
                  <a:srgbClr val="8593A1"/>
                </a:solidFill>
                <a:latin typeface="Calibri"/>
              </a:rPr>
              <a:t>|  KIỂM CHỨNG</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55648"/>
            <a:ext cx="5321808" cy="120700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9536" y="1975104"/>
            <a:ext cx="420624" cy="420624"/>
          </a:xfrm>
          <a:prstGeom prst="ellipse">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01</a:t>
            </a:r>
          </a:p>
        </p:txBody>
      </p:sp>
      <p:sp>
        <p:nvSpPr>
          <p:cNvPr id="11" name="TextBox 10"/>
          <p:cNvSpPr txBox="1"/>
          <p:nvPr/>
        </p:nvSpPr>
        <p:spPr>
          <a:xfrm>
            <a:off x="1444752" y="1911095"/>
            <a:ext cx="4297680"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Định lượng</a:t>
            </a:r>
          </a:p>
        </p:txBody>
      </p:sp>
      <p:sp>
        <p:nvSpPr>
          <p:cNvPr id="12" name="TextBox 11"/>
          <p:cNvSpPr txBox="1"/>
          <p:nvPr/>
        </p:nvSpPr>
        <p:spPr>
          <a:xfrm>
            <a:off x="1444752" y="2231136"/>
            <a:ext cx="4297680" cy="621792"/>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Đếm số CSV tạo ra tương ứng số sheet có dữ liệu; so sánh với 166 tệp đầu vào.</a:t>
            </a:r>
          </a:p>
        </p:txBody>
      </p:sp>
      <p:sp>
        <p:nvSpPr>
          <p:cNvPr id="13" name="Rounded Rectangle 12"/>
          <p:cNvSpPr/>
          <p:nvPr/>
        </p:nvSpPr>
        <p:spPr>
          <a:xfrm>
            <a:off x="658368" y="3145536"/>
            <a:ext cx="5321808" cy="120700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59536" y="3364991"/>
            <a:ext cx="420624" cy="420624"/>
          </a:xfrm>
          <a:prstGeom prst="ellipse">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02</a:t>
            </a:r>
          </a:p>
        </p:txBody>
      </p:sp>
      <p:sp>
        <p:nvSpPr>
          <p:cNvPr id="15" name="TextBox 14"/>
          <p:cNvSpPr txBox="1"/>
          <p:nvPr/>
        </p:nvSpPr>
        <p:spPr>
          <a:xfrm>
            <a:off x="1444752" y="3300984"/>
            <a:ext cx="4297680"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Định tính</a:t>
            </a:r>
          </a:p>
        </p:txBody>
      </p:sp>
      <p:sp>
        <p:nvSpPr>
          <p:cNvPr id="16" name="TextBox 15"/>
          <p:cNvSpPr txBox="1"/>
          <p:nvPr/>
        </p:nvSpPr>
        <p:spPr>
          <a:xfrm>
            <a:off x="1444752" y="3621024"/>
            <a:ext cx="4297680" cy="621792"/>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Đối chiếu ngẫu nhiên nội dung CSV với bản gốc; kiểm tra các cụm tiếng Việt sau chuyển mã.</a:t>
            </a:r>
          </a:p>
        </p:txBody>
      </p:sp>
      <p:sp>
        <p:nvSpPr>
          <p:cNvPr id="17" name="Rounded Rectangle 16"/>
          <p:cNvSpPr/>
          <p:nvPr/>
        </p:nvSpPr>
        <p:spPr>
          <a:xfrm>
            <a:off x="6199632" y="1755648"/>
            <a:ext cx="5376672" cy="120700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975104"/>
            <a:ext cx="420624" cy="420624"/>
          </a:xfrm>
          <a:prstGeom prst="ellipse">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03</a:t>
            </a:r>
          </a:p>
        </p:txBody>
      </p:sp>
      <p:sp>
        <p:nvSpPr>
          <p:cNvPr id="19" name="TextBox 18"/>
          <p:cNvSpPr txBox="1"/>
          <p:nvPr/>
        </p:nvSpPr>
        <p:spPr>
          <a:xfrm>
            <a:off x="6986016" y="1911095"/>
            <a:ext cx="4389120"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Xử lý lỗi</a:t>
            </a:r>
          </a:p>
        </p:txBody>
      </p:sp>
      <p:sp>
        <p:nvSpPr>
          <p:cNvPr id="20" name="TextBox 19"/>
          <p:cNvSpPr txBox="1"/>
          <p:nvPr/>
        </p:nvSpPr>
        <p:spPr>
          <a:xfrm>
            <a:off x="6986016" y="2231136"/>
            <a:ext cx="4389120" cy="621792"/>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Tệp hỏng hoặc có mật khẩu được ghi log, bỏ qua và tiếp tục các tệp còn lại.</a:t>
            </a:r>
          </a:p>
        </p:txBody>
      </p:sp>
      <p:sp>
        <p:nvSpPr>
          <p:cNvPr id="21" name="Rounded Rectangle 20"/>
          <p:cNvSpPr/>
          <p:nvPr/>
        </p:nvSpPr>
        <p:spPr>
          <a:xfrm>
            <a:off x="6199632" y="3145536"/>
            <a:ext cx="5376672" cy="120700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00800" y="3364991"/>
            <a:ext cx="420624" cy="420624"/>
          </a:xfrm>
          <a:prstGeom prst="ellipse">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00000"/>
              </a:lnSpc>
              <a:spcBef>
                <a:spcPts val="0"/>
              </a:spcBef>
              <a:spcAft>
                <a:spcPts val="0"/>
              </a:spcAft>
            </a:pPr>
            <a:r>
              <a:rPr sz="1100" b="1" i="0">
                <a:solidFill>
                  <a:srgbClr val="FFFFFF"/>
                </a:solidFill>
                <a:latin typeface="Calibri"/>
              </a:rPr>
              <a:t>04</a:t>
            </a:r>
          </a:p>
        </p:txBody>
      </p:sp>
      <p:sp>
        <p:nvSpPr>
          <p:cNvPr id="23" name="TextBox 22"/>
          <p:cNvSpPr txBox="1"/>
          <p:nvPr/>
        </p:nvSpPr>
        <p:spPr>
          <a:xfrm>
            <a:off x="6986016" y="3300984"/>
            <a:ext cx="4389120" cy="274320"/>
          </a:xfrm>
          <a:prstGeom prst="rect">
            <a:avLst/>
          </a:prstGeom>
          <a:noFill/>
        </p:spPr>
        <p:txBody>
          <a:bodyPr wrap="square" anchor="t" lIns="0" tIns="0" rIns="0" bIns="0">
            <a:spAutoFit/>
          </a:bodyPr>
          <a:lstStyle/>
          <a:p>
            <a:pPr algn="l">
              <a:lnSpc>
                <a:spcPct val="100000"/>
              </a:lnSpc>
              <a:spcBef>
                <a:spcPts val="0"/>
              </a:spcBef>
              <a:spcAft>
                <a:spcPts val="0"/>
              </a:spcAft>
            </a:pPr>
            <a:r>
              <a:rPr sz="1250" b="1" i="0">
                <a:solidFill>
                  <a:srgbClr val="0B2C4D"/>
                </a:solidFill>
                <a:latin typeface="Calibri"/>
              </a:rPr>
              <a:t>Tái lập</a:t>
            </a:r>
          </a:p>
        </p:txBody>
      </p:sp>
      <p:sp>
        <p:nvSpPr>
          <p:cNvPr id="24" name="TextBox 23"/>
          <p:cNvSpPr txBox="1"/>
          <p:nvPr/>
        </p:nvSpPr>
        <p:spPr>
          <a:xfrm>
            <a:off x="6986016" y="3621024"/>
            <a:ext cx="4389120" cy="621792"/>
          </a:xfrm>
          <a:prstGeom prst="rect">
            <a:avLst/>
          </a:prstGeom>
          <a:noFill/>
        </p:spPr>
        <p:txBody>
          <a:bodyPr wrap="square" anchor="t" lIns="0" tIns="0" rIns="0" bIns="0">
            <a:spAutoFit/>
          </a:bodyPr>
          <a:lstStyle/>
          <a:p>
            <a:pPr algn="l">
              <a:lnSpc>
                <a:spcPct val="106000"/>
              </a:lnSpc>
              <a:spcBef>
                <a:spcPts val="0"/>
              </a:spcBef>
              <a:spcAft>
                <a:spcPts val="0"/>
              </a:spcAft>
            </a:pPr>
            <a:r>
              <a:rPr sz="980" b="0" i="0">
                <a:solidFill>
                  <a:srgbClr val="526476"/>
                </a:solidFill>
                <a:latin typeface="Calibri"/>
              </a:rPr>
              <a:t>Chạy lại trên cùng bộ dữ liệu cho kết quả đồng nhất; phục vụ báo cáo khoa học.</a:t>
            </a:r>
          </a:p>
        </p:txBody>
      </p:sp>
      <p:sp>
        <p:nvSpPr>
          <p:cNvPr id="25" name="Rounded Rectangle 24"/>
          <p:cNvSpPr/>
          <p:nvPr/>
        </p:nvSpPr>
        <p:spPr>
          <a:xfrm>
            <a:off x="658368" y="4736592"/>
            <a:ext cx="10917936" cy="1143000"/>
          </a:xfrm>
          <a:prstGeom prst="roundRect">
            <a:avLst>
              <a:gd name="adj" fmla="val 12000"/>
            </a:avLst>
          </a:prstGeom>
          <a:solidFill>
            <a:srgbClr val="EC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58368" y="4736592"/>
            <a:ext cx="68580" cy="114300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4400" y="4782312"/>
            <a:ext cx="10506456" cy="1051560"/>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Kết quả kiểm chứng:  166/166 tệp xử lý thành công  ·  0 tệp lỗi trên bộ dữ liệu thử nghiệm</a:t>
            </a:r>
          </a:p>
        </p:txBody>
      </p:sp>
      <p:sp>
        <p:nvSpPr>
          <p:cNvPr id="28" name="TextBox 27"/>
          <p:cNvSpPr txBox="1"/>
          <p:nvPr/>
        </p:nvSpPr>
        <p:spPr>
          <a:xfrm>
            <a:off x="713232" y="5998464"/>
            <a:ext cx="10789920" cy="219456"/>
          </a:xfrm>
          <a:prstGeom prst="rect">
            <a:avLst/>
          </a:prstGeom>
          <a:noFill/>
        </p:spPr>
        <p:txBody>
          <a:bodyPr wrap="square" anchor="t" lIns="0" tIns="0" rIns="0" bIns="0">
            <a:spAutoFit/>
          </a:bodyPr>
          <a:lstStyle/>
          <a:p>
            <a:pPr algn="l">
              <a:lnSpc>
                <a:spcPct val="100000"/>
              </a:lnSpc>
              <a:spcBef>
                <a:spcPts val="0"/>
              </a:spcBef>
              <a:spcAft>
                <a:spcPts val="0"/>
              </a:spcAft>
            </a:pPr>
            <a:r>
              <a:rPr sz="900" b="0" i="1">
                <a:solidFill>
                  <a:srgbClr val="8593A1"/>
                </a:solidFill>
                <a:latin typeface="Calibri"/>
              </a:rPr>
              <a:t>Cảnh báo metadata (vùng in, header/footer) không làm sai lệch giá trị ô dữ liệu.</a:t>
            </a:r>
          </a:p>
        </p:txBody>
      </p:sp>
      <p:cxnSp>
        <p:nvCxnSpPr>
          <p:cNvPr id="29" name="Connector 28"/>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1" name="TextBox 30"/>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Quy mô dữ liệu sau chuẩn hóa</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03  </a:t>
            </a:r>
            <a:r>
              <a:rPr sz="1100" b="1" i="0" spc="100">
                <a:solidFill>
                  <a:srgbClr val="8593A1"/>
                </a:solidFill>
                <a:latin typeface="Calibri"/>
              </a:rPr>
              <a:t>|  KẾT QUẢ ĐỊNH LƯỢNG</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55648"/>
            <a:ext cx="3493008" cy="184708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58368" y="1755648"/>
            <a:ext cx="68580" cy="184708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975104"/>
            <a:ext cx="3081527" cy="658368"/>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5FA83C"/>
                </a:solidFill>
                <a:latin typeface="Calibri Light"/>
              </a:rPr>
              <a:t>166/166</a:t>
            </a:r>
          </a:p>
        </p:txBody>
      </p:sp>
      <p:sp>
        <p:nvSpPr>
          <p:cNvPr id="12" name="TextBox 11"/>
          <p:cNvSpPr txBox="1"/>
          <p:nvPr/>
        </p:nvSpPr>
        <p:spPr>
          <a:xfrm>
            <a:off x="932688" y="2651760"/>
            <a:ext cx="3035808" cy="256032"/>
          </a:xfrm>
          <a:prstGeom prst="rect">
            <a:avLst/>
          </a:prstGeom>
          <a:noFill/>
        </p:spPr>
        <p:txBody>
          <a:bodyPr wrap="square" anchor="t" lIns="0" tIns="0" rIns="0" bIns="0">
            <a:spAutoFit/>
          </a:bodyPr>
          <a:lstStyle/>
          <a:p>
            <a:pPr algn="l">
              <a:lnSpc>
                <a:spcPct val="100000"/>
              </a:lnSpc>
              <a:spcBef>
                <a:spcPts val="0"/>
              </a:spcBef>
              <a:spcAft>
                <a:spcPts val="0"/>
              </a:spcAft>
            </a:pPr>
            <a:r>
              <a:rPr sz="1000" b="1" i="0" spc="60">
                <a:solidFill>
                  <a:srgbClr val="0B2C4D"/>
                </a:solidFill>
                <a:latin typeface="Calibri"/>
              </a:rPr>
              <a:t>TỆP XỬ LÝ THÀNH CÔNG</a:t>
            </a:r>
          </a:p>
        </p:txBody>
      </p:sp>
      <p:sp>
        <p:nvSpPr>
          <p:cNvPr id="13" name="TextBox 12"/>
          <p:cNvSpPr txBox="1"/>
          <p:nvPr/>
        </p:nvSpPr>
        <p:spPr>
          <a:xfrm>
            <a:off x="932688" y="2926080"/>
            <a:ext cx="3035808" cy="420624"/>
          </a:xfrm>
          <a:prstGeom prst="rect">
            <a:avLst/>
          </a:prstGeom>
          <a:noFill/>
        </p:spPr>
        <p:txBody>
          <a:bodyPr wrap="square" anchor="t" lIns="0" tIns="0" rIns="0" bIns="0">
            <a:spAutoFit/>
          </a:bodyPr>
          <a:lstStyle/>
          <a:p>
            <a:pPr algn="l">
              <a:lnSpc>
                <a:spcPct val="100000"/>
              </a:lnSpc>
              <a:spcBef>
                <a:spcPts val="0"/>
              </a:spcBef>
              <a:spcAft>
                <a:spcPts val="0"/>
              </a:spcAft>
            </a:pPr>
            <a:r>
              <a:rPr sz="1000" b="0" i="0">
                <a:solidFill>
                  <a:srgbClr val="526476"/>
                </a:solidFill>
                <a:latin typeface="Calibri"/>
              </a:rPr>
              <a:t>Tỷ lệ thành công 100% trên bộ dữ liệu thử nghiệm</a:t>
            </a:r>
          </a:p>
        </p:txBody>
      </p:sp>
      <p:sp>
        <p:nvSpPr>
          <p:cNvPr id="14" name="Rounded Rectangle 13"/>
          <p:cNvSpPr/>
          <p:nvPr/>
        </p:nvSpPr>
        <p:spPr>
          <a:xfrm>
            <a:off x="4370832" y="1755648"/>
            <a:ext cx="3493008" cy="184708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4370832" y="1755648"/>
            <a:ext cx="68580" cy="184708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26864" y="1975104"/>
            <a:ext cx="3081527" cy="658368"/>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1769AA"/>
                </a:solidFill>
                <a:latin typeface="Calibri Light"/>
              </a:rPr>
              <a:t>963</a:t>
            </a:r>
          </a:p>
        </p:txBody>
      </p:sp>
      <p:sp>
        <p:nvSpPr>
          <p:cNvPr id="17" name="TextBox 16"/>
          <p:cNvSpPr txBox="1"/>
          <p:nvPr/>
        </p:nvSpPr>
        <p:spPr>
          <a:xfrm>
            <a:off x="4645152" y="2651760"/>
            <a:ext cx="3035808" cy="256032"/>
          </a:xfrm>
          <a:prstGeom prst="rect">
            <a:avLst/>
          </a:prstGeom>
          <a:noFill/>
        </p:spPr>
        <p:txBody>
          <a:bodyPr wrap="square" anchor="t" lIns="0" tIns="0" rIns="0" bIns="0">
            <a:spAutoFit/>
          </a:bodyPr>
          <a:lstStyle/>
          <a:p>
            <a:pPr algn="l">
              <a:lnSpc>
                <a:spcPct val="100000"/>
              </a:lnSpc>
              <a:spcBef>
                <a:spcPts val="0"/>
              </a:spcBef>
              <a:spcAft>
                <a:spcPts val="0"/>
              </a:spcAft>
            </a:pPr>
            <a:r>
              <a:rPr sz="1000" b="1" i="0" spc="60">
                <a:solidFill>
                  <a:srgbClr val="0B2C4D"/>
                </a:solidFill>
                <a:latin typeface="Calibri"/>
              </a:rPr>
              <a:t>SHEET CÓ DỮ LIỆU</a:t>
            </a:r>
          </a:p>
        </p:txBody>
      </p:sp>
      <p:sp>
        <p:nvSpPr>
          <p:cNvPr id="18" name="TextBox 17"/>
          <p:cNvSpPr txBox="1"/>
          <p:nvPr/>
        </p:nvSpPr>
        <p:spPr>
          <a:xfrm>
            <a:off x="4645152" y="2926080"/>
            <a:ext cx="3035808" cy="420624"/>
          </a:xfrm>
          <a:prstGeom prst="rect">
            <a:avLst/>
          </a:prstGeom>
          <a:noFill/>
        </p:spPr>
        <p:txBody>
          <a:bodyPr wrap="square" anchor="t" lIns="0" tIns="0" rIns="0" bIns="0">
            <a:spAutoFit/>
          </a:bodyPr>
          <a:lstStyle/>
          <a:p>
            <a:pPr algn="l">
              <a:lnSpc>
                <a:spcPct val="100000"/>
              </a:lnSpc>
              <a:spcBef>
                <a:spcPts val="0"/>
              </a:spcBef>
              <a:spcAft>
                <a:spcPts val="0"/>
              </a:spcAft>
            </a:pPr>
            <a:r>
              <a:rPr sz="1000" b="0" i="0">
                <a:solidFill>
                  <a:srgbClr val="526476"/>
                </a:solidFill>
                <a:latin typeface="Calibri"/>
              </a:rPr>
              <a:t>Mỗi sheet hợp lệ tạo một tệp CSV riêng</a:t>
            </a:r>
          </a:p>
        </p:txBody>
      </p:sp>
      <p:sp>
        <p:nvSpPr>
          <p:cNvPr id="19" name="Rounded Rectangle 18"/>
          <p:cNvSpPr/>
          <p:nvPr/>
        </p:nvSpPr>
        <p:spPr>
          <a:xfrm>
            <a:off x="8083296" y="1755648"/>
            <a:ext cx="3493008" cy="1847088"/>
          </a:xfrm>
          <a:prstGeom prst="roundRect">
            <a:avLst>
              <a:gd name="adj" fmla="val 10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83296" y="1755648"/>
            <a:ext cx="68580" cy="1847088"/>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39327" y="1975104"/>
            <a:ext cx="3081527" cy="658368"/>
          </a:xfrm>
          <a:prstGeom prst="rect">
            <a:avLst/>
          </a:prstGeom>
          <a:noFill/>
        </p:spPr>
        <p:txBody>
          <a:bodyPr wrap="square" anchor="t" lIns="0" tIns="0" rIns="0" bIns="0">
            <a:spAutoFit/>
          </a:bodyPr>
          <a:lstStyle/>
          <a:p>
            <a:pPr algn="l">
              <a:lnSpc>
                <a:spcPct val="100000"/>
              </a:lnSpc>
              <a:spcBef>
                <a:spcPts val="0"/>
              </a:spcBef>
              <a:spcAft>
                <a:spcPts val="0"/>
              </a:spcAft>
            </a:pPr>
            <a:r>
              <a:rPr sz="3800" b="1" i="0">
                <a:solidFill>
                  <a:srgbClr val="E8891C"/>
                </a:solidFill>
                <a:latin typeface="Calibri Light"/>
              </a:rPr>
              <a:t>20.532</a:t>
            </a:r>
          </a:p>
        </p:txBody>
      </p:sp>
      <p:sp>
        <p:nvSpPr>
          <p:cNvPr id="22" name="TextBox 21"/>
          <p:cNvSpPr txBox="1"/>
          <p:nvPr/>
        </p:nvSpPr>
        <p:spPr>
          <a:xfrm>
            <a:off x="8357616" y="2651760"/>
            <a:ext cx="3035808" cy="256032"/>
          </a:xfrm>
          <a:prstGeom prst="rect">
            <a:avLst/>
          </a:prstGeom>
          <a:noFill/>
        </p:spPr>
        <p:txBody>
          <a:bodyPr wrap="square" anchor="t" lIns="0" tIns="0" rIns="0" bIns="0">
            <a:spAutoFit/>
          </a:bodyPr>
          <a:lstStyle/>
          <a:p>
            <a:pPr algn="l">
              <a:lnSpc>
                <a:spcPct val="100000"/>
              </a:lnSpc>
              <a:spcBef>
                <a:spcPts val="0"/>
              </a:spcBef>
              <a:spcAft>
                <a:spcPts val="0"/>
              </a:spcAft>
            </a:pPr>
            <a:r>
              <a:rPr sz="1000" b="1" i="0" spc="60">
                <a:solidFill>
                  <a:srgbClr val="0B2C4D"/>
                </a:solidFill>
                <a:latin typeface="Calibri"/>
              </a:rPr>
              <a:t>MẪU HỢP LỆ</a:t>
            </a:r>
          </a:p>
        </p:txBody>
      </p:sp>
      <p:sp>
        <p:nvSpPr>
          <p:cNvPr id="23" name="TextBox 22"/>
          <p:cNvSpPr txBox="1"/>
          <p:nvPr/>
        </p:nvSpPr>
        <p:spPr>
          <a:xfrm>
            <a:off x="8357616" y="2926080"/>
            <a:ext cx="3035808" cy="420624"/>
          </a:xfrm>
          <a:prstGeom prst="rect">
            <a:avLst/>
          </a:prstGeom>
          <a:noFill/>
        </p:spPr>
        <p:txBody>
          <a:bodyPr wrap="square" anchor="t" lIns="0" tIns="0" rIns="0" bIns="0">
            <a:spAutoFit/>
          </a:bodyPr>
          <a:lstStyle/>
          <a:p>
            <a:pPr algn="l">
              <a:lnSpc>
                <a:spcPct val="100000"/>
              </a:lnSpc>
              <a:spcBef>
                <a:spcPts val="0"/>
              </a:spcBef>
              <a:spcAft>
                <a:spcPts val="0"/>
              </a:spcAft>
            </a:pPr>
            <a:r>
              <a:rPr sz="1000" b="0" i="0">
                <a:solidFill>
                  <a:srgbClr val="526476"/>
                </a:solidFill>
                <a:latin typeface="Calibri"/>
              </a:rPr>
              <a:t>Sẵn sàng cho gắn nhãn và huấn luyện AI</a:t>
            </a:r>
          </a:p>
        </p:txBody>
      </p:sp>
      <p:sp>
        <p:nvSpPr>
          <p:cNvPr id="24" name="Oval 23"/>
          <p:cNvSpPr/>
          <p:nvPr/>
        </p:nvSpPr>
        <p:spPr>
          <a:xfrm>
            <a:off x="868680" y="3931920"/>
            <a:ext cx="1691640" cy="1691640"/>
          </a:xfrm>
          <a:prstGeom prst="ellipse">
            <a:avLst/>
          </a:prstGeom>
          <a:noFill/>
          <a:ln w="165100">
            <a:solidFill>
              <a:srgbClr val="5FA8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931920"/>
            <a:ext cx="1691640" cy="548640"/>
          </a:xfrm>
          <a:prstGeom prst="rect">
            <a:avLst/>
          </a:prstGeom>
          <a:noFill/>
        </p:spPr>
        <p:txBody>
          <a:bodyPr wrap="square" anchor="ctr" lIns="0" tIns="0" rIns="0" bIns="0">
            <a:spAutoFit/>
          </a:bodyPr>
          <a:lstStyle/>
          <a:p>
            <a:pPr algn="ctr">
              <a:lnSpc>
                <a:spcPct val="100000"/>
              </a:lnSpc>
              <a:spcBef>
                <a:spcPts val="0"/>
              </a:spcBef>
              <a:spcAft>
                <a:spcPts val="0"/>
              </a:spcAft>
            </a:pPr>
            <a:r>
              <a:rPr sz="2800" b="1" i="0">
                <a:solidFill>
                  <a:srgbClr val="5FA83C"/>
                </a:solidFill>
                <a:latin typeface="Calibri"/>
              </a:rPr>
              <a:t>100%</a:t>
            </a:r>
          </a:p>
        </p:txBody>
      </p:sp>
      <p:sp>
        <p:nvSpPr>
          <p:cNvPr id="26" name="TextBox 25"/>
          <p:cNvSpPr txBox="1"/>
          <p:nvPr/>
        </p:nvSpPr>
        <p:spPr>
          <a:xfrm>
            <a:off x="960120" y="4773168"/>
            <a:ext cx="1508760" cy="320040"/>
          </a:xfrm>
          <a:prstGeom prst="rect">
            <a:avLst/>
          </a:prstGeom>
          <a:noFill/>
        </p:spPr>
        <p:txBody>
          <a:bodyPr wrap="square" anchor="t" lIns="0" tIns="0" rIns="0" bIns="0">
            <a:spAutoFit/>
          </a:bodyPr>
          <a:lstStyle/>
          <a:p>
            <a:pPr algn="ctr">
              <a:lnSpc>
                <a:spcPct val="100000"/>
              </a:lnSpc>
              <a:spcBef>
                <a:spcPts val="0"/>
              </a:spcBef>
              <a:spcAft>
                <a:spcPts val="0"/>
              </a:spcAft>
            </a:pPr>
            <a:r>
              <a:rPr sz="950" b="1" i="0">
                <a:solidFill>
                  <a:srgbClr val="0B2C4D"/>
                </a:solidFill>
                <a:latin typeface="Calibri"/>
              </a:rPr>
              <a:t>thành công</a:t>
            </a:r>
          </a:p>
        </p:txBody>
      </p:sp>
      <p:sp>
        <p:nvSpPr>
          <p:cNvPr id="27" name="TextBox 26"/>
          <p:cNvSpPr txBox="1"/>
          <p:nvPr/>
        </p:nvSpPr>
        <p:spPr>
          <a:xfrm>
            <a:off x="2852928" y="4005072"/>
            <a:ext cx="416052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1769AA"/>
                </a:solidFill>
                <a:latin typeface="Calibri"/>
              </a:rPr>
              <a:t>TỆP ĐẦU VÀO</a:t>
            </a:r>
          </a:p>
        </p:txBody>
      </p:sp>
      <p:sp>
        <p:nvSpPr>
          <p:cNvPr id="28" name="Rounded Rectangle 27"/>
          <p:cNvSpPr/>
          <p:nvPr/>
        </p:nvSpPr>
        <p:spPr>
          <a:xfrm>
            <a:off x="2852928" y="4297680"/>
            <a:ext cx="4160520" cy="146304"/>
          </a:xfrm>
          <a:prstGeom prst="roundRect">
            <a:avLst>
              <a:gd name="adj" fmla="val 8000"/>
            </a:avLst>
          </a:prstGeom>
          <a:solidFill>
            <a:srgbClr val="E6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2852928" y="4297680"/>
            <a:ext cx="4160520" cy="146304"/>
          </a:xfrm>
          <a:prstGeom prst="roundRect">
            <a:avLst>
              <a:gd name="adj" fmla="val 800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852928" y="4517136"/>
            <a:ext cx="4160520" cy="256032"/>
          </a:xfrm>
          <a:prstGeom prst="rect">
            <a:avLst/>
          </a:prstGeom>
          <a:noFill/>
        </p:spPr>
        <p:txBody>
          <a:bodyPr wrap="square" anchor="t" lIns="0" tIns="0" rIns="0" bIns="0">
            <a:spAutoFit/>
          </a:bodyPr>
          <a:lstStyle/>
          <a:p>
            <a:pPr algn="l">
              <a:lnSpc>
                <a:spcPct val="100000"/>
              </a:lnSpc>
              <a:spcBef>
                <a:spcPts val="0"/>
              </a:spcBef>
              <a:spcAft>
                <a:spcPts val="0"/>
              </a:spcAft>
            </a:pPr>
            <a:r>
              <a:rPr sz="1000" b="1" i="0">
                <a:solidFill>
                  <a:srgbClr val="0B2C4D"/>
                </a:solidFill>
                <a:latin typeface="Calibri"/>
              </a:rPr>
              <a:t>166 / 166 tệp</a:t>
            </a:r>
          </a:p>
        </p:txBody>
      </p:sp>
      <p:sp>
        <p:nvSpPr>
          <p:cNvPr id="31" name="TextBox 30"/>
          <p:cNvSpPr txBox="1"/>
          <p:nvPr/>
        </p:nvSpPr>
        <p:spPr>
          <a:xfrm>
            <a:off x="2852928" y="4983480"/>
            <a:ext cx="416052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3F7D28"/>
                </a:solidFill>
                <a:latin typeface="Calibri"/>
              </a:rPr>
              <a:t>SHEET CÓ DỮ LIỆU</a:t>
            </a:r>
          </a:p>
        </p:txBody>
      </p:sp>
      <p:sp>
        <p:nvSpPr>
          <p:cNvPr id="32" name="Rounded Rectangle 31"/>
          <p:cNvSpPr/>
          <p:nvPr/>
        </p:nvSpPr>
        <p:spPr>
          <a:xfrm>
            <a:off x="2852928" y="5276088"/>
            <a:ext cx="4160520" cy="146304"/>
          </a:xfrm>
          <a:prstGeom prst="roundRect">
            <a:avLst>
              <a:gd name="adj" fmla="val 8000"/>
            </a:avLst>
          </a:prstGeom>
          <a:solidFill>
            <a:srgbClr val="E6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2852928" y="5276088"/>
            <a:ext cx="4160520" cy="146304"/>
          </a:xfrm>
          <a:prstGeom prst="roundRect">
            <a:avLst>
              <a:gd name="adj" fmla="val 800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852928" y="5495544"/>
            <a:ext cx="4160520" cy="256032"/>
          </a:xfrm>
          <a:prstGeom prst="rect">
            <a:avLst/>
          </a:prstGeom>
          <a:noFill/>
        </p:spPr>
        <p:txBody>
          <a:bodyPr wrap="square" anchor="t" lIns="0" tIns="0" rIns="0" bIns="0">
            <a:spAutoFit/>
          </a:bodyPr>
          <a:lstStyle/>
          <a:p>
            <a:pPr algn="l">
              <a:lnSpc>
                <a:spcPct val="100000"/>
              </a:lnSpc>
              <a:spcBef>
                <a:spcPts val="0"/>
              </a:spcBef>
              <a:spcAft>
                <a:spcPts val="0"/>
              </a:spcAft>
            </a:pPr>
            <a:r>
              <a:rPr sz="1000" b="1" i="0">
                <a:solidFill>
                  <a:srgbClr val="0B2C4D"/>
                </a:solidFill>
                <a:latin typeface="Calibri"/>
              </a:rPr>
              <a:t>963 sheet  →  963 CSV</a:t>
            </a:r>
          </a:p>
        </p:txBody>
      </p:sp>
      <p:sp>
        <p:nvSpPr>
          <p:cNvPr id="35" name="Rounded Rectangle 34"/>
          <p:cNvSpPr/>
          <p:nvPr/>
        </p:nvSpPr>
        <p:spPr>
          <a:xfrm>
            <a:off x="7498079" y="3931920"/>
            <a:ext cx="4069080" cy="1874519"/>
          </a:xfrm>
          <a:prstGeom prst="roundRect">
            <a:avLst>
              <a:gd name="adj" fmla="val 8000"/>
            </a:avLst>
          </a:prstGeom>
          <a:solidFill>
            <a:srgbClr val="0B2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17536" y="4096512"/>
            <a:ext cx="3639312"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80">
                <a:solidFill>
                  <a:srgbClr val="9CC8E8"/>
                </a:solidFill>
                <a:latin typeface="Calibri"/>
              </a:rPr>
              <a:t>Ý NGHĨA</a:t>
            </a:r>
          </a:p>
        </p:txBody>
      </p:sp>
      <p:sp>
        <p:nvSpPr>
          <p:cNvPr id="37" name="TextBox 36"/>
          <p:cNvSpPr txBox="1"/>
          <p:nvPr/>
        </p:nvSpPr>
        <p:spPr>
          <a:xfrm>
            <a:off x="7717536" y="4407408"/>
            <a:ext cx="3639312" cy="1188720"/>
          </a:xfrm>
          <a:prstGeom prst="rect">
            <a:avLst/>
          </a:prstGeom>
          <a:noFill/>
        </p:spPr>
        <p:txBody>
          <a:bodyPr wrap="square" anchor="t" lIns="0" tIns="0" rIns="0" bIns="0">
            <a:spAutoFit/>
          </a:bodyPr>
          <a:lstStyle/>
          <a:p>
            <a:pPr algn="l">
              <a:lnSpc>
                <a:spcPct val="112000"/>
              </a:lnSpc>
              <a:spcBef>
                <a:spcPts val="0"/>
              </a:spcBef>
              <a:spcAft>
                <a:spcPts val="0"/>
              </a:spcAft>
            </a:pPr>
            <a:r>
              <a:rPr sz="1150" b="0" i="0">
                <a:solidFill>
                  <a:srgbClr val="FFFFFF"/>
                </a:solidFill>
                <a:latin typeface="Calibri"/>
              </a:rPr>
              <a:t>Hơn 20 nghìn mẫu đủ lớn để huấn luyện mô hình AI có độ tin cậy; dữ liệu đã thống nhất mã ký tự và định dạng.</a:t>
            </a:r>
          </a:p>
        </p:txBody>
      </p:sp>
      <p:cxnSp>
        <p:nvCxnSpPr>
          <p:cNvPr id="38" name="Connector 37"/>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40" name="TextBox 39"/>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300" b="1">
                <a:solidFill>
                  <a:srgbClr val="0B2C4D"/>
                </a:solidFill>
                <a:latin typeface="Calibri"/>
              </a:rPr>
              <a:t>Tiếng Việt đọc đúng, cấu trúc lưới được bảo toàn</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03  </a:t>
            </a:r>
            <a:r>
              <a:rPr sz="1100" b="1" i="0" spc="100">
                <a:solidFill>
                  <a:srgbClr val="8593A1"/>
                </a:solidFill>
                <a:latin typeface="Calibri"/>
              </a:rPr>
              <a:t>|  KẾT QUẢ ĐỊNH TÍNH</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19072"/>
            <a:ext cx="5577840" cy="3310128"/>
          </a:xfrm>
          <a:prstGeom prst="roundRect">
            <a:avLst>
              <a:gd name="adj" fmla="val 4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mage_001.png"/>
          <p:cNvPicPr>
            <a:picLocks noChangeAspect="1"/>
          </p:cNvPicPr>
          <p:nvPr/>
        </p:nvPicPr>
        <p:blipFill>
          <a:blip r:embed="rId4"/>
          <a:stretch>
            <a:fillRect/>
          </a:stretch>
        </p:blipFill>
        <p:spPr>
          <a:xfrm>
            <a:off x="768096" y="2515075"/>
            <a:ext cx="5358384" cy="1480376"/>
          </a:xfrm>
          <a:prstGeom prst="rect">
            <a:avLst/>
          </a:prstGeom>
          <a:effectLst/>
        </p:spPr>
      </p:pic>
      <p:sp>
        <p:nvSpPr>
          <p:cNvPr id="11" name="TextBox 10"/>
          <p:cNvSpPr txBox="1"/>
          <p:nvPr/>
        </p:nvSpPr>
        <p:spPr>
          <a:xfrm>
            <a:off x="768096" y="4736592"/>
            <a:ext cx="5358384" cy="219456"/>
          </a:xfrm>
          <a:prstGeom prst="rect">
            <a:avLst/>
          </a:prstGeom>
          <a:noFill/>
        </p:spPr>
        <p:txBody>
          <a:bodyPr wrap="square" anchor="t" lIns="0" tIns="0" rIns="0" bIns="0">
            <a:spAutoFit/>
          </a:bodyPr>
          <a:lstStyle/>
          <a:p>
            <a:pPr algn="l">
              <a:lnSpc>
                <a:spcPct val="100000"/>
              </a:lnSpc>
              <a:spcBef>
                <a:spcPts val="0"/>
              </a:spcBef>
              <a:spcAft>
                <a:spcPts val="0"/>
              </a:spcAft>
            </a:pPr>
            <a:r>
              <a:rPr sz="880" b="0" i="1">
                <a:solidFill>
                  <a:srgbClr val="8593A1"/>
                </a:solidFill>
                <a:latin typeface="Calibri"/>
              </a:rPr>
              <a:t>Hình 5. AllData.csv sau chuẩn hóa font và cột dữ liệu</a:t>
            </a:r>
          </a:p>
        </p:txBody>
      </p:sp>
      <p:sp>
        <p:nvSpPr>
          <p:cNvPr id="12" name="TextBox 11"/>
          <p:cNvSpPr txBox="1"/>
          <p:nvPr/>
        </p:nvSpPr>
        <p:spPr>
          <a:xfrm>
            <a:off x="6492240" y="1719072"/>
            <a:ext cx="4937760"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60">
                <a:solidFill>
                  <a:srgbClr val="1769AA"/>
                </a:solidFill>
                <a:latin typeface="Calibri"/>
              </a:rPr>
              <a:t>ĐỐI CHIẾU TCVN3  →  UNICODE</a:t>
            </a:r>
          </a:p>
        </p:txBody>
      </p:sp>
      <p:sp>
        <p:nvSpPr>
          <p:cNvPr id="13" name="Rounded Rectangle 12"/>
          <p:cNvSpPr/>
          <p:nvPr/>
        </p:nvSpPr>
        <p:spPr>
          <a:xfrm>
            <a:off x="6492240" y="2011680"/>
            <a:ext cx="4956048" cy="53035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20256" y="2084832"/>
            <a:ext cx="2267712"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0" i="0">
                <a:solidFill>
                  <a:srgbClr val="E8891C"/>
                </a:solidFill>
                <a:latin typeface="Calibri"/>
              </a:rPr>
              <a:t>b¸o c¸o kÕt qu¶</a:t>
            </a:r>
          </a:p>
        </p:txBody>
      </p:sp>
      <p:sp>
        <p:nvSpPr>
          <p:cNvPr id="15" name="TextBox 14"/>
          <p:cNvSpPr txBox="1"/>
          <p:nvPr/>
        </p:nvSpPr>
        <p:spPr>
          <a:xfrm>
            <a:off x="8887968" y="2084832"/>
            <a:ext cx="274320" cy="365760"/>
          </a:xfrm>
          <a:prstGeom prst="rect">
            <a:avLst/>
          </a:prstGeom>
          <a:noFill/>
        </p:spPr>
        <p:txBody>
          <a:bodyPr wrap="square" anchor="ctr" lIns="0" tIns="0" rIns="0" bIns="0">
            <a:spAutoFit/>
          </a:bodyPr>
          <a:lstStyle/>
          <a:p>
            <a:pPr algn="ctr">
              <a:lnSpc>
                <a:spcPct val="100000"/>
              </a:lnSpc>
              <a:spcBef>
                <a:spcPts val="0"/>
              </a:spcBef>
              <a:spcAft>
                <a:spcPts val="0"/>
              </a:spcAft>
            </a:pPr>
            <a:r>
              <a:rPr sz="1200" b="1" i="0">
                <a:solidFill>
                  <a:srgbClr val="8593A1"/>
                </a:solidFill>
                <a:latin typeface="Calibri"/>
              </a:rPr>
              <a:t>→</a:t>
            </a:r>
          </a:p>
        </p:txBody>
      </p:sp>
      <p:sp>
        <p:nvSpPr>
          <p:cNvPr id="16" name="TextBox 15"/>
          <p:cNvSpPr txBox="1"/>
          <p:nvPr/>
        </p:nvSpPr>
        <p:spPr>
          <a:xfrm>
            <a:off x="9180576" y="2084832"/>
            <a:ext cx="2103120"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1" i="0">
                <a:solidFill>
                  <a:srgbClr val="3F7D28"/>
                </a:solidFill>
                <a:latin typeface="Calibri"/>
              </a:rPr>
              <a:t>báo cáo kết quả</a:t>
            </a:r>
          </a:p>
        </p:txBody>
      </p:sp>
      <p:sp>
        <p:nvSpPr>
          <p:cNvPr id="17" name="Rounded Rectangle 16"/>
          <p:cNvSpPr/>
          <p:nvPr/>
        </p:nvSpPr>
        <p:spPr>
          <a:xfrm>
            <a:off x="6492240" y="2633472"/>
            <a:ext cx="4956048" cy="53035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20256" y="2706624"/>
            <a:ext cx="2267712"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0" i="0">
                <a:solidFill>
                  <a:srgbClr val="E8891C"/>
                </a:solidFill>
                <a:latin typeface="Calibri"/>
              </a:rPr>
              <a:t>C«ng tr×nh</a:t>
            </a:r>
          </a:p>
        </p:txBody>
      </p:sp>
      <p:sp>
        <p:nvSpPr>
          <p:cNvPr id="19" name="TextBox 18"/>
          <p:cNvSpPr txBox="1"/>
          <p:nvPr/>
        </p:nvSpPr>
        <p:spPr>
          <a:xfrm>
            <a:off x="8887968" y="2706624"/>
            <a:ext cx="274320" cy="365760"/>
          </a:xfrm>
          <a:prstGeom prst="rect">
            <a:avLst/>
          </a:prstGeom>
          <a:noFill/>
        </p:spPr>
        <p:txBody>
          <a:bodyPr wrap="square" anchor="ctr" lIns="0" tIns="0" rIns="0" bIns="0">
            <a:spAutoFit/>
          </a:bodyPr>
          <a:lstStyle/>
          <a:p>
            <a:pPr algn="ctr">
              <a:lnSpc>
                <a:spcPct val="100000"/>
              </a:lnSpc>
              <a:spcBef>
                <a:spcPts val="0"/>
              </a:spcBef>
              <a:spcAft>
                <a:spcPts val="0"/>
              </a:spcAft>
            </a:pPr>
            <a:r>
              <a:rPr sz="1200" b="1" i="0">
                <a:solidFill>
                  <a:srgbClr val="8593A1"/>
                </a:solidFill>
                <a:latin typeface="Calibri"/>
              </a:rPr>
              <a:t>→</a:t>
            </a:r>
          </a:p>
        </p:txBody>
      </p:sp>
      <p:sp>
        <p:nvSpPr>
          <p:cNvPr id="20" name="TextBox 19"/>
          <p:cNvSpPr txBox="1"/>
          <p:nvPr/>
        </p:nvSpPr>
        <p:spPr>
          <a:xfrm>
            <a:off x="9180576" y="2706624"/>
            <a:ext cx="2103120"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1" i="0">
                <a:solidFill>
                  <a:srgbClr val="3F7D28"/>
                </a:solidFill>
                <a:latin typeface="Calibri"/>
              </a:rPr>
              <a:t>Công trình</a:t>
            </a:r>
          </a:p>
        </p:txBody>
      </p:sp>
      <p:sp>
        <p:nvSpPr>
          <p:cNvPr id="21" name="Rounded Rectangle 20"/>
          <p:cNvSpPr/>
          <p:nvPr/>
        </p:nvSpPr>
        <p:spPr>
          <a:xfrm>
            <a:off x="6492240" y="3255264"/>
            <a:ext cx="4956048" cy="53035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20256" y="3328416"/>
            <a:ext cx="2267712"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0" i="0">
                <a:solidFill>
                  <a:srgbClr val="E8891C"/>
                </a:solidFill>
                <a:latin typeface="Calibri"/>
              </a:rPr>
              <a:t>§é Èm tù nhiªn</a:t>
            </a:r>
          </a:p>
        </p:txBody>
      </p:sp>
      <p:sp>
        <p:nvSpPr>
          <p:cNvPr id="23" name="TextBox 22"/>
          <p:cNvSpPr txBox="1"/>
          <p:nvPr/>
        </p:nvSpPr>
        <p:spPr>
          <a:xfrm>
            <a:off x="8887968" y="3328416"/>
            <a:ext cx="274320" cy="365760"/>
          </a:xfrm>
          <a:prstGeom prst="rect">
            <a:avLst/>
          </a:prstGeom>
          <a:noFill/>
        </p:spPr>
        <p:txBody>
          <a:bodyPr wrap="square" anchor="ctr" lIns="0" tIns="0" rIns="0" bIns="0">
            <a:spAutoFit/>
          </a:bodyPr>
          <a:lstStyle/>
          <a:p>
            <a:pPr algn="ctr">
              <a:lnSpc>
                <a:spcPct val="100000"/>
              </a:lnSpc>
              <a:spcBef>
                <a:spcPts val="0"/>
              </a:spcBef>
              <a:spcAft>
                <a:spcPts val="0"/>
              </a:spcAft>
            </a:pPr>
            <a:r>
              <a:rPr sz="1200" b="1" i="0">
                <a:solidFill>
                  <a:srgbClr val="8593A1"/>
                </a:solidFill>
                <a:latin typeface="Calibri"/>
              </a:rPr>
              <a:t>→</a:t>
            </a:r>
          </a:p>
        </p:txBody>
      </p:sp>
      <p:sp>
        <p:nvSpPr>
          <p:cNvPr id="24" name="TextBox 23"/>
          <p:cNvSpPr txBox="1"/>
          <p:nvPr/>
        </p:nvSpPr>
        <p:spPr>
          <a:xfrm>
            <a:off x="9180576" y="3328416"/>
            <a:ext cx="2103120"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1" i="0">
                <a:solidFill>
                  <a:srgbClr val="3F7D28"/>
                </a:solidFill>
                <a:latin typeface="Calibri"/>
              </a:rPr>
              <a:t>Độ ẩm tự nhiên</a:t>
            </a:r>
          </a:p>
        </p:txBody>
      </p:sp>
      <p:sp>
        <p:nvSpPr>
          <p:cNvPr id="25" name="Rounded Rectangle 24"/>
          <p:cNvSpPr/>
          <p:nvPr/>
        </p:nvSpPr>
        <p:spPr>
          <a:xfrm>
            <a:off x="6492240" y="3877056"/>
            <a:ext cx="4956048" cy="53035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20256" y="3950208"/>
            <a:ext cx="2267712"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0" i="0">
                <a:solidFill>
                  <a:srgbClr val="E8891C"/>
                </a:solidFill>
                <a:latin typeface="Calibri"/>
              </a:rPr>
              <a:t>Gãc ma s¸t trong</a:t>
            </a:r>
          </a:p>
        </p:txBody>
      </p:sp>
      <p:sp>
        <p:nvSpPr>
          <p:cNvPr id="27" name="TextBox 26"/>
          <p:cNvSpPr txBox="1"/>
          <p:nvPr/>
        </p:nvSpPr>
        <p:spPr>
          <a:xfrm>
            <a:off x="8887968" y="3950208"/>
            <a:ext cx="274320" cy="365760"/>
          </a:xfrm>
          <a:prstGeom prst="rect">
            <a:avLst/>
          </a:prstGeom>
          <a:noFill/>
        </p:spPr>
        <p:txBody>
          <a:bodyPr wrap="square" anchor="ctr" lIns="0" tIns="0" rIns="0" bIns="0">
            <a:spAutoFit/>
          </a:bodyPr>
          <a:lstStyle/>
          <a:p>
            <a:pPr algn="ctr">
              <a:lnSpc>
                <a:spcPct val="100000"/>
              </a:lnSpc>
              <a:spcBef>
                <a:spcPts val="0"/>
              </a:spcBef>
              <a:spcAft>
                <a:spcPts val="0"/>
              </a:spcAft>
            </a:pPr>
            <a:r>
              <a:rPr sz="1200" b="1" i="0">
                <a:solidFill>
                  <a:srgbClr val="8593A1"/>
                </a:solidFill>
                <a:latin typeface="Calibri"/>
              </a:rPr>
              <a:t>→</a:t>
            </a:r>
          </a:p>
        </p:txBody>
      </p:sp>
      <p:sp>
        <p:nvSpPr>
          <p:cNvPr id="28" name="TextBox 27"/>
          <p:cNvSpPr txBox="1"/>
          <p:nvPr/>
        </p:nvSpPr>
        <p:spPr>
          <a:xfrm>
            <a:off x="9180576" y="3950208"/>
            <a:ext cx="2103120" cy="365760"/>
          </a:xfrm>
          <a:prstGeom prst="rect">
            <a:avLst/>
          </a:prstGeom>
          <a:noFill/>
        </p:spPr>
        <p:txBody>
          <a:bodyPr wrap="square" anchor="ctr" lIns="0" tIns="0" rIns="0" bIns="0">
            <a:spAutoFit/>
          </a:bodyPr>
          <a:lstStyle/>
          <a:p>
            <a:pPr algn="l">
              <a:lnSpc>
                <a:spcPct val="100000"/>
              </a:lnSpc>
              <a:spcBef>
                <a:spcPts val="0"/>
              </a:spcBef>
              <a:spcAft>
                <a:spcPts val="0"/>
              </a:spcAft>
            </a:pPr>
            <a:r>
              <a:rPr sz="1050" b="1" i="0">
                <a:solidFill>
                  <a:srgbClr val="3F7D28"/>
                </a:solidFill>
                <a:latin typeface="Calibri"/>
              </a:rPr>
              <a:t>Góc ma sát trong</a:t>
            </a:r>
          </a:p>
        </p:txBody>
      </p:sp>
      <p:sp>
        <p:nvSpPr>
          <p:cNvPr id="29" name="Rounded Rectangle 28"/>
          <p:cNvSpPr/>
          <p:nvPr/>
        </p:nvSpPr>
        <p:spPr>
          <a:xfrm>
            <a:off x="6492240" y="4645152"/>
            <a:ext cx="4956048" cy="1097280"/>
          </a:xfrm>
          <a:prstGeom prst="roundRect">
            <a:avLst>
              <a:gd name="adj" fmla="val 12000"/>
            </a:avLst>
          </a:prstGeom>
          <a:solidFill>
            <a:srgbClr val="EC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492240" y="4645152"/>
            <a:ext cx="68580" cy="109728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748272" y="4690872"/>
            <a:ext cx="4544568" cy="1005839"/>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Chuỗi sau chuyển mã hiển thị đúng Unicode; giảm nhiễu ngôn ngữ cho bước gắn nhãn và huấn luyện.</a:t>
            </a:r>
          </a:p>
        </p:txBody>
      </p:sp>
      <p:sp>
        <p:nvSpPr>
          <p:cNvPr id="32" name="TextBox 31"/>
          <p:cNvSpPr txBox="1"/>
          <p:nvPr/>
        </p:nvSpPr>
        <p:spPr>
          <a:xfrm>
            <a:off x="6492240" y="5852160"/>
            <a:ext cx="4956048" cy="274320"/>
          </a:xfrm>
          <a:prstGeom prst="rect">
            <a:avLst/>
          </a:prstGeom>
          <a:noFill/>
        </p:spPr>
        <p:txBody>
          <a:bodyPr wrap="square" anchor="t" lIns="0" tIns="0" rIns="0" bIns="0">
            <a:spAutoFit/>
          </a:bodyPr>
          <a:lstStyle/>
          <a:p>
            <a:pPr algn="l">
              <a:lnSpc>
                <a:spcPct val="100000"/>
              </a:lnSpc>
              <a:spcBef>
                <a:spcPts val="0"/>
              </a:spcBef>
              <a:spcAft>
                <a:spcPts val="0"/>
              </a:spcAft>
            </a:pPr>
            <a:r>
              <a:rPr sz="950" b="0" i="1">
                <a:solidFill>
                  <a:srgbClr val="526476"/>
                </a:solidFill>
                <a:latin typeface="Calibri"/>
              </a:rPr>
              <a:t>CSV vẫn giữ cấu trúc lưới gần với sheet gốc.</a:t>
            </a:r>
          </a:p>
        </p:txBody>
      </p:sp>
      <p:cxnSp>
        <p:nvCxnSpPr>
          <p:cNvPr id="33" name="Connector 32"/>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5" name="TextBox 34"/>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300" b="1">
                <a:solidFill>
                  <a:srgbClr val="0B2C4D"/>
                </a:solidFill>
                <a:latin typeface="Calibri"/>
              </a:rPr>
              <a:t>Điểm mạnh đã kiểm chứng và giới hạn cần tiếp tục</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03  </a:t>
            </a:r>
            <a:r>
              <a:rPr sz="1100" b="1" i="0" spc="100">
                <a:solidFill>
                  <a:srgbClr val="8593A1"/>
                </a:solidFill>
                <a:latin typeface="Calibri"/>
              </a:rPr>
              <a:t>|  THẢO LUẬN</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37360"/>
            <a:ext cx="5394960" cy="391363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58368" y="1737360"/>
            <a:ext cx="5394960" cy="9144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6112" y="1956816"/>
            <a:ext cx="4892040" cy="310896"/>
          </a:xfrm>
          <a:prstGeom prst="rect">
            <a:avLst/>
          </a:prstGeom>
          <a:noFill/>
        </p:spPr>
        <p:txBody>
          <a:bodyPr wrap="square" anchor="t" lIns="0" tIns="0" rIns="0" bIns="0">
            <a:spAutoFit/>
          </a:bodyPr>
          <a:lstStyle/>
          <a:p>
            <a:pPr algn="l">
              <a:lnSpc>
                <a:spcPct val="100000"/>
              </a:lnSpc>
              <a:spcBef>
                <a:spcPts val="0"/>
              </a:spcBef>
              <a:spcAft>
                <a:spcPts val="0"/>
              </a:spcAft>
            </a:pPr>
            <a:r>
              <a:rPr sz="1100" b="1" i="0" spc="100">
                <a:solidFill>
                  <a:srgbClr val="3F7D28"/>
                </a:solidFill>
                <a:latin typeface="Calibri"/>
              </a:rPr>
              <a:t>ƯU ĐIỂM</a:t>
            </a:r>
          </a:p>
        </p:txBody>
      </p:sp>
      <p:sp>
        <p:nvSpPr>
          <p:cNvPr id="12" name="TextBox 11"/>
          <p:cNvSpPr txBox="1"/>
          <p:nvPr/>
        </p:nvSpPr>
        <p:spPr>
          <a:xfrm>
            <a:off x="896112" y="2395728"/>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3" name="TextBox 12"/>
          <p:cNvSpPr txBox="1"/>
          <p:nvPr/>
        </p:nvSpPr>
        <p:spPr>
          <a:xfrm>
            <a:off x="1170432" y="2377440"/>
            <a:ext cx="461772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Tự động hóa toàn thư mục, giảm thời gian so với xử lý thủ công.</a:t>
            </a:r>
          </a:p>
        </p:txBody>
      </p:sp>
      <p:sp>
        <p:nvSpPr>
          <p:cNvPr id="14" name="TextBox 13"/>
          <p:cNvSpPr txBox="1"/>
          <p:nvPr/>
        </p:nvSpPr>
        <p:spPr>
          <a:xfrm>
            <a:off x="896112" y="3236976"/>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5" name="TextBox 14"/>
          <p:cNvSpPr txBox="1"/>
          <p:nvPr/>
        </p:nvSpPr>
        <p:spPr>
          <a:xfrm>
            <a:off x="1170432" y="3218688"/>
            <a:ext cx="461772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UTF-8 thống nhất; đọc tốt bằng Excel, pandas và các pipeline ML.</a:t>
            </a:r>
          </a:p>
        </p:txBody>
      </p:sp>
      <p:sp>
        <p:nvSpPr>
          <p:cNvPr id="16" name="TextBox 15"/>
          <p:cNvSpPr txBox="1"/>
          <p:nvPr/>
        </p:nvSpPr>
        <p:spPr>
          <a:xfrm>
            <a:off x="896112" y="4078224"/>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7" name="TextBox 16"/>
          <p:cNvSpPr txBox="1"/>
          <p:nvPr/>
        </p:nvSpPr>
        <p:spPr>
          <a:xfrm>
            <a:off x="1170432" y="4059936"/>
            <a:ext cx="461772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Tên file truy vết nguồn; bỏ sheet rỗng, giảm nhiễu tập huấn luyện.</a:t>
            </a:r>
          </a:p>
        </p:txBody>
      </p:sp>
      <p:sp>
        <p:nvSpPr>
          <p:cNvPr id="18" name="TextBox 17"/>
          <p:cNvSpPr txBox="1"/>
          <p:nvPr/>
        </p:nvSpPr>
        <p:spPr>
          <a:xfrm>
            <a:off x="896112" y="4919472"/>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5FA83C"/>
                </a:solidFill>
                <a:latin typeface="Calibri"/>
              </a:rPr>
              <a:t>✓</a:t>
            </a:r>
          </a:p>
        </p:txBody>
      </p:sp>
      <p:sp>
        <p:nvSpPr>
          <p:cNvPr id="19" name="TextBox 18"/>
          <p:cNvSpPr txBox="1"/>
          <p:nvPr/>
        </p:nvSpPr>
        <p:spPr>
          <a:xfrm>
            <a:off x="1170432" y="4901184"/>
            <a:ext cx="461772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Nhận diện TCVN3 lai (font + mẫu ký tự), giảm bỏ sót.</a:t>
            </a:r>
          </a:p>
        </p:txBody>
      </p:sp>
      <p:sp>
        <p:nvSpPr>
          <p:cNvPr id="20" name="Rounded Rectangle 19"/>
          <p:cNvSpPr/>
          <p:nvPr/>
        </p:nvSpPr>
        <p:spPr>
          <a:xfrm>
            <a:off x="6217920" y="1737360"/>
            <a:ext cx="5376672" cy="391363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217920" y="1737360"/>
            <a:ext cx="5376672" cy="91440"/>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55664" y="1956816"/>
            <a:ext cx="4846320" cy="310896"/>
          </a:xfrm>
          <a:prstGeom prst="rect">
            <a:avLst/>
          </a:prstGeom>
          <a:noFill/>
        </p:spPr>
        <p:txBody>
          <a:bodyPr wrap="square" anchor="t" lIns="0" tIns="0" rIns="0" bIns="0">
            <a:spAutoFit/>
          </a:bodyPr>
          <a:lstStyle/>
          <a:p>
            <a:pPr algn="l">
              <a:lnSpc>
                <a:spcPct val="100000"/>
              </a:lnSpc>
              <a:spcBef>
                <a:spcPts val="0"/>
              </a:spcBef>
              <a:spcAft>
                <a:spcPts val="0"/>
              </a:spcAft>
            </a:pPr>
            <a:r>
              <a:rPr sz="1100" b="1" i="0" spc="100">
                <a:solidFill>
                  <a:srgbClr val="E8891C"/>
                </a:solidFill>
                <a:latin typeface="Calibri"/>
              </a:rPr>
              <a:t>HẠN CHẾ &amp; RỦI RO</a:t>
            </a:r>
          </a:p>
        </p:txBody>
      </p:sp>
      <p:sp>
        <p:nvSpPr>
          <p:cNvPr id="23" name="TextBox 22"/>
          <p:cNvSpPr txBox="1"/>
          <p:nvPr/>
        </p:nvSpPr>
        <p:spPr>
          <a:xfrm>
            <a:off x="6455664" y="2395728"/>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E8891C"/>
                </a:solidFill>
                <a:latin typeface="Calibri"/>
              </a:rPr>
              <a:t>!</a:t>
            </a:r>
          </a:p>
        </p:txBody>
      </p:sp>
      <p:sp>
        <p:nvSpPr>
          <p:cNvPr id="24" name="TextBox 23"/>
          <p:cNvSpPr txBox="1"/>
          <p:nvPr/>
        </p:nvSpPr>
        <p:spPr>
          <a:xfrm>
            <a:off x="6729984" y="2377440"/>
            <a:ext cx="457200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Tệp hỏng hoặc mã hóa mật khẩu cần can thiệp thủ công.</a:t>
            </a:r>
          </a:p>
        </p:txBody>
      </p:sp>
      <p:sp>
        <p:nvSpPr>
          <p:cNvPr id="25" name="TextBox 24"/>
          <p:cNvSpPr txBox="1"/>
          <p:nvPr/>
        </p:nvSpPr>
        <p:spPr>
          <a:xfrm>
            <a:off x="6455664" y="3236976"/>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E8891C"/>
                </a:solidFill>
                <a:latin typeface="Calibri"/>
              </a:rPr>
              <a:t>!</a:t>
            </a:r>
          </a:p>
        </p:txBody>
      </p:sp>
      <p:sp>
        <p:nvSpPr>
          <p:cNvPr id="26" name="TextBox 25"/>
          <p:cNvSpPr txBox="1"/>
          <p:nvPr/>
        </p:nvSpPr>
        <p:spPr>
          <a:xfrm>
            <a:off x="6729984" y="3218688"/>
            <a:ext cx="457200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Chưa có schema cột thống nhất giữa các đơn vị soạn thảo.</a:t>
            </a:r>
          </a:p>
        </p:txBody>
      </p:sp>
      <p:sp>
        <p:nvSpPr>
          <p:cNvPr id="27" name="TextBox 26"/>
          <p:cNvSpPr txBox="1"/>
          <p:nvPr/>
        </p:nvSpPr>
        <p:spPr>
          <a:xfrm>
            <a:off x="6455664" y="4078224"/>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E8891C"/>
                </a:solidFill>
                <a:latin typeface="Calibri"/>
              </a:rPr>
              <a:t>!</a:t>
            </a:r>
          </a:p>
        </p:txBody>
      </p:sp>
      <p:sp>
        <p:nvSpPr>
          <p:cNvPr id="28" name="TextBox 27"/>
          <p:cNvSpPr txBox="1"/>
          <p:nvPr/>
        </p:nvSpPr>
        <p:spPr>
          <a:xfrm>
            <a:off x="6729984" y="4059936"/>
            <a:ext cx="457200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Chưa kiểm tra đơn vị, phát hiện ngoại lệ số tự động.</a:t>
            </a:r>
          </a:p>
        </p:txBody>
      </p:sp>
      <p:sp>
        <p:nvSpPr>
          <p:cNvPr id="29" name="TextBox 28"/>
          <p:cNvSpPr txBox="1"/>
          <p:nvPr/>
        </p:nvSpPr>
        <p:spPr>
          <a:xfrm>
            <a:off x="6455664" y="4919472"/>
            <a:ext cx="256032" cy="256032"/>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E8891C"/>
                </a:solidFill>
                <a:latin typeface="Calibri"/>
              </a:rPr>
              <a:t>!</a:t>
            </a:r>
          </a:p>
        </p:txBody>
      </p:sp>
      <p:sp>
        <p:nvSpPr>
          <p:cNvPr id="30" name="TextBox 29"/>
          <p:cNvSpPr txBox="1"/>
          <p:nvPr/>
        </p:nvSpPr>
        <p:spPr>
          <a:xfrm>
            <a:off x="6729984" y="4901184"/>
            <a:ext cx="4572000" cy="713232"/>
          </a:xfrm>
          <a:prstGeom prst="rect">
            <a:avLst/>
          </a:prstGeom>
          <a:noFill/>
        </p:spPr>
        <p:txBody>
          <a:bodyPr wrap="square" anchor="t" lIns="0" tIns="0" rIns="0" bIns="0">
            <a:spAutoFit/>
          </a:bodyPr>
          <a:lstStyle/>
          <a:p>
            <a:pPr algn="l">
              <a:lnSpc>
                <a:spcPct val="108000"/>
              </a:lnSpc>
              <a:spcBef>
                <a:spcPts val="0"/>
              </a:spcBef>
              <a:spcAft>
                <a:spcPts val="0"/>
              </a:spcAft>
            </a:pPr>
            <a:r>
              <a:rPr sz="1100" b="0" i="0">
                <a:solidFill>
                  <a:srgbClr val="526476"/>
                </a:solidFill>
                <a:latin typeface="Calibri"/>
              </a:rPr>
              <a:t>Chưa gắn nhãn / huấn luyện mô hình trong phạm vi bài báo.</a:t>
            </a:r>
          </a:p>
        </p:txBody>
      </p:sp>
      <p:cxnSp>
        <p:nvCxnSpPr>
          <p:cNvPr id="31" name="Connector 30"/>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3" name="TextBox 32"/>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Ba kết quả chính và một hướng đi tiếp</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04  </a:t>
            </a:r>
            <a:r>
              <a:rPr sz="1100" b="1" i="0" spc="100">
                <a:solidFill>
                  <a:srgbClr val="8593A1"/>
                </a:solidFill>
                <a:latin typeface="Calibri"/>
              </a:rPr>
              <a:t>|  KẾT LUẬN</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755648"/>
            <a:ext cx="7818120" cy="117043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1956816"/>
            <a:ext cx="640080" cy="548640"/>
          </a:xfrm>
          <a:prstGeom prst="rect">
            <a:avLst/>
          </a:prstGeom>
          <a:noFill/>
        </p:spPr>
        <p:txBody>
          <a:bodyPr wrap="square" anchor="t" lIns="0" tIns="0" rIns="0" bIns="0">
            <a:spAutoFit/>
          </a:bodyPr>
          <a:lstStyle/>
          <a:p>
            <a:pPr algn="l">
              <a:lnSpc>
                <a:spcPct val="100000"/>
              </a:lnSpc>
              <a:spcBef>
                <a:spcPts val="0"/>
              </a:spcBef>
              <a:spcAft>
                <a:spcPts val="0"/>
              </a:spcAft>
            </a:pPr>
            <a:r>
              <a:rPr sz="2600" b="1" i="0">
                <a:solidFill>
                  <a:srgbClr val="1769AA"/>
                </a:solidFill>
                <a:latin typeface="Calibri Light"/>
              </a:rPr>
              <a:t>01</a:t>
            </a:r>
          </a:p>
        </p:txBody>
      </p:sp>
      <p:sp>
        <p:nvSpPr>
          <p:cNvPr id="11" name="TextBox 10"/>
          <p:cNvSpPr txBox="1"/>
          <p:nvPr/>
        </p:nvSpPr>
        <p:spPr>
          <a:xfrm>
            <a:off x="1591056" y="1911095"/>
            <a:ext cx="2788920" cy="274320"/>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Pipeline ổn định</a:t>
            </a:r>
          </a:p>
        </p:txBody>
      </p:sp>
      <p:sp>
        <p:nvSpPr>
          <p:cNvPr id="12" name="TextBox 11"/>
          <p:cNvSpPr txBox="1"/>
          <p:nvPr/>
        </p:nvSpPr>
        <p:spPr>
          <a:xfrm>
            <a:off x="1591056" y="2231136"/>
            <a:ext cx="6601968" cy="603504"/>
          </a:xfrm>
          <a:prstGeom prst="rect">
            <a:avLst/>
          </a:prstGeom>
          <a:noFill/>
        </p:spPr>
        <p:txBody>
          <a:bodyPr wrap="square" anchor="t" lIns="0" tIns="0" rIns="0" bIns="0">
            <a:spAutoFit/>
          </a:bodyPr>
          <a:lstStyle/>
          <a:p>
            <a:pPr algn="l">
              <a:lnSpc>
                <a:spcPct val="106000"/>
              </a:lnSpc>
              <a:spcBef>
                <a:spcPts val="0"/>
              </a:spcBef>
              <a:spcAft>
                <a:spcPts val="0"/>
              </a:spcAft>
            </a:pPr>
            <a:r>
              <a:rPr sz="1030" b="0" i="0">
                <a:solidFill>
                  <a:srgbClr val="526476"/>
                </a:solidFill>
                <a:latin typeface="Calibri"/>
              </a:rPr>
              <a:t>Đã xây dựng quy trình Python chạy batch, tách sheet và xuất CSV UTF-8; có thể tái sử dụng cho hồ sơ mới.</a:t>
            </a:r>
          </a:p>
        </p:txBody>
      </p:sp>
      <p:sp>
        <p:nvSpPr>
          <p:cNvPr id="13" name="Rounded Rectangle 12"/>
          <p:cNvSpPr/>
          <p:nvPr/>
        </p:nvSpPr>
        <p:spPr>
          <a:xfrm>
            <a:off x="658368" y="3090672"/>
            <a:ext cx="7818120" cy="117043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291840"/>
            <a:ext cx="640080" cy="548640"/>
          </a:xfrm>
          <a:prstGeom prst="rect">
            <a:avLst/>
          </a:prstGeom>
          <a:noFill/>
        </p:spPr>
        <p:txBody>
          <a:bodyPr wrap="square" anchor="t" lIns="0" tIns="0" rIns="0" bIns="0">
            <a:spAutoFit/>
          </a:bodyPr>
          <a:lstStyle/>
          <a:p>
            <a:pPr algn="l">
              <a:lnSpc>
                <a:spcPct val="100000"/>
              </a:lnSpc>
              <a:spcBef>
                <a:spcPts val="0"/>
              </a:spcBef>
              <a:spcAft>
                <a:spcPts val="0"/>
              </a:spcAft>
            </a:pPr>
            <a:r>
              <a:rPr sz="2600" b="1" i="0">
                <a:solidFill>
                  <a:srgbClr val="5FA83C"/>
                </a:solidFill>
                <a:latin typeface="Calibri Light"/>
              </a:rPr>
              <a:t>02</a:t>
            </a:r>
          </a:p>
        </p:txBody>
      </p:sp>
      <p:sp>
        <p:nvSpPr>
          <p:cNvPr id="15" name="TextBox 14"/>
          <p:cNvSpPr txBox="1"/>
          <p:nvPr/>
        </p:nvSpPr>
        <p:spPr>
          <a:xfrm>
            <a:off x="1591056" y="3246120"/>
            <a:ext cx="2788920" cy="274320"/>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Chuẩn hóa tiếng Việt</a:t>
            </a:r>
          </a:p>
        </p:txBody>
      </p:sp>
      <p:sp>
        <p:nvSpPr>
          <p:cNvPr id="16" name="TextBox 15"/>
          <p:cNvSpPr txBox="1"/>
          <p:nvPr/>
        </p:nvSpPr>
        <p:spPr>
          <a:xfrm>
            <a:off x="1591056" y="3566160"/>
            <a:ext cx="6601968" cy="603504"/>
          </a:xfrm>
          <a:prstGeom prst="rect">
            <a:avLst/>
          </a:prstGeom>
          <a:noFill/>
        </p:spPr>
        <p:txBody>
          <a:bodyPr wrap="square" anchor="t" lIns="0" tIns="0" rIns="0" bIns="0">
            <a:spAutoFit/>
          </a:bodyPr>
          <a:lstStyle/>
          <a:p>
            <a:pPr algn="l">
              <a:lnSpc>
                <a:spcPct val="106000"/>
              </a:lnSpc>
              <a:spcBef>
                <a:spcPts val="0"/>
              </a:spcBef>
              <a:spcAft>
                <a:spcPts val="0"/>
              </a:spcAft>
            </a:pPr>
            <a:r>
              <a:rPr sz="1030" b="0" i="0">
                <a:solidFill>
                  <a:srgbClr val="526476"/>
                </a:solidFill>
                <a:latin typeface="Calibri"/>
              </a:rPr>
              <a:t>TCVN3 → Unicode theo bảng VietKey, nhận diện lai font + mẫu ký tự, giảm sai lệch do lỗi font.</a:t>
            </a:r>
          </a:p>
        </p:txBody>
      </p:sp>
      <p:sp>
        <p:nvSpPr>
          <p:cNvPr id="17" name="Rounded Rectangle 16"/>
          <p:cNvSpPr/>
          <p:nvPr/>
        </p:nvSpPr>
        <p:spPr>
          <a:xfrm>
            <a:off x="658368" y="4425696"/>
            <a:ext cx="7818120" cy="1170432"/>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7824" y="4626864"/>
            <a:ext cx="640080" cy="548640"/>
          </a:xfrm>
          <a:prstGeom prst="rect">
            <a:avLst/>
          </a:prstGeom>
          <a:noFill/>
        </p:spPr>
        <p:txBody>
          <a:bodyPr wrap="square" anchor="t" lIns="0" tIns="0" rIns="0" bIns="0">
            <a:spAutoFit/>
          </a:bodyPr>
          <a:lstStyle/>
          <a:p>
            <a:pPr algn="l">
              <a:lnSpc>
                <a:spcPct val="100000"/>
              </a:lnSpc>
              <a:spcBef>
                <a:spcPts val="0"/>
              </a:spcBef>
              <a:spcAft>
                <a:spcPts val="0"/>
              </a:spcAft>
            </a:pPr>
            <a:r>
              <a:rPr sz="2600" b="1" i="0">
                <a:solidFill>
                  <a:srgbClr val="E8891C"/>
                </a:solidFill>
                <a:latin typeface="Calibri Light"/>
              </a:rPr>
              <a:t>03</a:t>
            </a:r>
          </a:p>
        </p:txBody>
      </p:sp>
      <p:sp>
        <p:nvSpPr>
          <p:cNvPr id="19" name="TextBox 18"/>
          <p:cNvSpPr txBox="1"/>
          <p:nvPr/>
        </p:nvSpPr>
        <p:spPr>
          <a:xfrm>
            <a:off x="1591056" y="4581144"/>
            <a:ext cx="2788920" cy="274320"/>
          </a:xfrm>
          <a:prstGeom prst="rect">
            <a:avLst/>
          </a:prstGeom>
          <a:noFill/>
        </p:spPr>
        <p:txBody>
          <a:bodyPr wrap="square" anchor="t" lIns="0" tIns="0" rIns="0" bIns="0">
            <a:spAutoFit/>
          </a:bodyPr>
          <a:lstStyle/>
          <a:p>
            <a:pPr algn="l">
              <a:lnSpc>
                <a:spcPct val="100000"/>
              </a:lnSpc>
              <a:spcBef>
                <a:spcPts val="0"/>
              </a:spcBef>
              <a:spcAft>
                <a:spcPts val="0"/>
              </a:spcAft>
            </a:pPr>
            <a:r>
              <a:rPr sz="1350" b="1" i="0">
                <a:solidFill>
                  <a:srgbClr val="0B2C4D"/>
                </a:solidFill>
                <a:latin typeface="Calibri"/>
              </a:rPr>
              <a:t>Dữ liệu sẵn sàng</a:t>
            </a:r>
          </a:p>
        </p:txBody>
      </p:sp>
      <p:sp>
        <p:nvSpPr>
          <p:cNvPr id="20" name="TextBox 19"/>
          <p:cNvSpPr txBox="1"/>
          <p:nvPr/>
        </p:nvSpPr>
        <p:spPr>
          <a:xfrm>
            <a:off x="1591056" y="4901183"/>
            <a:ext cx="6601968" cy="603504"/>
          </a:xfrm>
          <a:prstGeom prst="rect">
            <a:avLst/>
          </a:prstGeom>
          <a:noFill/>
        </p:spPr>
        <p:txBody>
          <a:bodyPr wrap="square" anchor="t" lIns="0" tIns="0" rIns="0" bIns="0">
            <a:spAutoFit/>
          </a:bodyPr>
          <a:lstStyle/>
          <a:p>
            <a:pPr algn="l">
              <a:lnSpc>
                <a:spcPct val="106000"/>
              </a:lnSpc>
              <a:spcBef>
                <a:spcPts val="0"/>
              </a:spcBef>
              <a:spcAft>
                <a:spcPts val="0"/>
              </a:spcAft>
            </a:pPr>
            <a:r>
              <a:rPr sz="1030" b="0" i="0">
                <a:solidFill>
                  <a:srgbClr val="526476"/>
                </a:solidFill>
                <a:latin typeface="Calibri"/>
              </a:rPr>
              <a:t>166/166 tệp thành công; 963 sheet; 20.532 mẫu hợp lệ — nền tảng cho gắn nhãn và huấn luyện AI.</a:t>
            </a:r>
          </a:p>
        </p:txBody>
      </p:sp>
      <p:sp>
        <p:nvSpPr>
          <p:cNvPr id="21" name="Rounded Rectangle 20"/>
          <p:cNvSpPr/>
          <p:nvPr/>
        </p:nvSpPr>
        <p:spPr>
          <a:xfrm>
            <a:off x="8705088" y="1755648"/>
            <a:ext cx="2889504" cy="3858768"/>
          </a:xfrm>
          <a:prstGeom prst="roundRect">
            <a:avLst>
              <a:gd name="adj" fmla="val 8000"/>
            </a:avLst>
          </a:prstGeom>
          <a:solidFill>
            <a:srgbClr val="0B2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42832" y="1956816"/>
            <a:ext cx="2395728" cy="256032"/>
          </a:xfrm>
          <a:prstGeom prst="rect">
            <a:avLst/>
          </a:prstGeom>
          <a:noFill/>
        </p:spPr>
        <p:txBody>
          <a:bodyPr wrap="square" anchor="t" lIns="0" tIns="0" rIns="0" bIns="0">
            <a:spAutoFit/>
          </a:bodyPr>
          <a:lstStyle/>
          <a:p>
            <a:pPr algn="l">
              <a:lnSpc>
                <a:spcPct val="100000"/>
              </a:lnSpc>
              <a:spcBef>
                <a:spcPts val="0"/>
              </a:spcBef>
              <a:spcAft>
                <a:spcPts val="0"/>
              </a:spcAft>
            </a:pPr>
            <a:r>
              <a:rPr sz="900" b="1" i="0" spc="80">
                <a:solidFill>
                  <a:srgbClr val="9CC8E8"/>
                </a:solidFill>
                <a:latin typeface="Calibri"/>
              </a:rPr>
              <a:t>THÔNG ĐIỆP</a:t>
            </a:r>
          </a:p>
        </p:txBody>
      </p:sp>
      <p:sp>
        <p:nvSpPr>
          <p:cNvPr id="23" name="TextBox 22"/>
          <p:cNvSpPr txBox="1"/>
          <p:nvPr/>
        </p:nvSpPr>
        <p:spPr>
          <a:xfrm>
            <a:off x="8942832" y="2322576"/>
            <a:ext cx="2395728" cy="2194560"/>
          </a:xfrm>
          <a:prstGeom prst="rect">
            <a:avLst/>
          </a:prstGeom>
          <a:noFill/>
        </p:spPr>
        <p:txBody>
          <a:bodyPr wrap="square" anchor="t" lIns="0" tIns="0" rIns="0" bIns="0">
            <a:spAutoFit/>
          </a:bodyPr>
          <a:lstStyle/>
          <a:p>
            <a:pPr algn="l">
              <a:lnSpc>
                <a:spcPct val="102000"/>
              </a:lnSpc>
              <a:spcBef>
                <a:spcPts val="0"/>
              </a:spcBef>
              <a:spcAft>
                <a:spcPts val="0"/>
              </a:spcAft>
            </a:pPr>
            <a:r>
              <a:rPr sz="1800" b="1" i="0">
                <a:solidFill>
                  <a:srgbClr val="FFFFFF"/>
                </a:solidFill>
                <a:latin typeface="Calibri Light"/>
              </a:rPr>
              <a:t>Dữ liệu lịch sử có thể trở thành tài sản AI — nếu được chuẩn hóa đúng cách.</a:t>
            </a:r>
          </a:p>
        </p:txBody>
      </p:sp>
      <p:sp>
        <p:nvSpPr>
          <p:cNvPr id="24" name="Rounded Rectangle 23"/>
          <p:cNvSpPr/>
          <p:nvPr/>
        </p:nvSpPr>
        <p:spPr>
          <a:xfrm>
            <a:off x="8942832" y="4882896"/>
            <a:ext cx="502920"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42832" y="5047488"/>
            <a:ext cx="2395728" cy="384048"/>
          </a:xfrm>
          <a:prstGeom prst="rect">
            <a:avLst/>
          </a:prstGeom>
          <a:noFill/>
        </p:spPr>
        <p:txBody>
          <a:bodyPr wrap="square" anchor="t" lIns="0" tIns="0" rIns="0" bIns="0">
            <a:spAutoFit/>
          </a:bodyPr>
          <a:lstStyle/>
          <a:p>
            <a:pPr algn="l">
              <a:lnSpc>
                <a:spcPct val="100000"/>
              </a:lnSpc>
              <a:spcBef>
                <a:spcPts val="0"/>
              </a:spcBef>
              <a:spcAft>
                <a:spcPts val="0"/>
              </a:spcAft>
            </a:pPr>
            <a:r>
              <a:rPr sz="1050" b="0" i="1">
                <a:solidFill>
                  <a:srgbClr val="D7E7F3"/>
                </a:solidFill>
                <a:latin typeface="Calibri"/>
              </a:rPr>
              <a:t>Python là cầu nối.</a:t>
            </a:r>
          </a:p>
        </p:txBody>
      </p:sp>
      <p:cxnSp>
        <p:nvCxnSpPr>
          <p:cNvPr id="26" name="Connector 25"/>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28" name="TextBox 27"/>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2304288" y="621792"/>
            <a:ext cx="7406640" cy="768096"/>
          </a:xfrm>
        </p:spPr>
        <p:txBody>
          <a:bodyPr wrap="square" lIns="0" rIns="0" tIns="0" bIns="0" anchor="t"/>
          <a:lstStyle/>
          <a:p>
            <a:pPr algn="l">
              <a:lnSpc>
                <a:spcPct val="95000"/>
              </a:lnSpc>
            </a:pPr>
            <a:r>
              <a:rPr sz="2600" b="1">
                <a:solidFill>
                  <a:srgbClr val="0B2C4D"/>
                </a:solidFill>
                <a:latin typeface="Calibri"/>
              </a:rPr>
              <a:t>Từ CSV sạch đến mô hình dự báo chỉ tiêu cơ lý</a:t>
            </a:r>
          </a:p>
        </p:txBody>
      </p:sp>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TextBox 4"/>
          <p:cNvSpPr txBox="1"/>
          <p:nvPr/>
        </p:nvSpPr>
        <p:spPr>
          <a:xfrm>
            <a:off x="2304288" y="365760"/>
            <a:ext cx="7406640" cy="274320"/>
          </a:xfrm>
          <a:prstGeom prst="rect">
            <a:avLst/>
          </a:prstGeom>
          <a:noFill/>
        </p:spPr>
        <p:txBody>
          <a:bodyPr wrap="square" anchor="t" lIns="0" tIns="0" rIns="0" bIns="0">
            <a:spAutoFit/>
          </a:bodyPr>
          <a:lstStyle/>
          <a:p>
            <a:pPr algn="l">
              <a:lnSpc>
                <a:spcPct val="100000"/>
              </a:lnSpc>
              <a:spcBef>
                <a:spcPts val="0"/>
              </a:spcBef>
              <a:spcAft>
                <a:spcPts val="0"/>
              </a:spcAft>
            </a:pPr>
            <a:r>
              <a:rPr sz="1100" b="1" i="0">
                <a:solidFill>
                  <a:srgbClr val="1769AA"/>
                </a:solidFill>
                <a:latin typeface="Calibri"/>
              </a:rPr>
              <a:t>04  </a:t>
            </a:r>
            <a:r>
              <a:rPr sz="1100" b="1" i="0" spc="100">
                <a:solidFill>
                  <a:srgbClr val="8593A1"/>
                </a:solidFill>
                <a:latin typeface="Calibri"/>
              </a:rPr>
              <a:t>|  HƯỚNG PHÁT TRIỂN</a:t>
            </a:r>
          </a:p>
        </p:txBody>
      </p:sp>
      <p:sp>
        <p:nvSpPr>
          <p:cNvPr id="6" name="Rounded Rectangle 5"/>
          <p:cNvSpPr/>
          <p:nvPr/>
        </p:nvSpPr>
        <p:spPr>
          <a:xfrm>
            <a:off x="2304288" y="1408176"/>
            <a:ext cx="868680" cy="41148"/>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00400" y="1408176"/>
            <a:ext cx="347472" cy="41148"/>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a:off x="3584448" y="1426464"/>
            <a:ext cx="8010144" cy="0"/>
          </a:xfrm>
          <a:prstGeom prst="line">
            <a:avLst/>
          </a:prstGeom>
          <a:ln w="9525">
            <a:solidFill>
              <a:srgbClr val="D7E3E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40080" y="1783080"/>
            <a:ext cx="5321808" cy="1700784"/>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0080" y="1783080"/>
            <a:ext cx="68580" cy="1700784"/>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1984248"/>
            <a:ext cx="685800" cy="502920"/>
          </a:xfrm>
          <a:prstGeom prst="rect">
            <a:avLst/>
          </a:prstGeom>
          <a:noFill/>
        </p:spPr>
        <p:txBody>
          <a:bodyPr wrap="square" anchor="t" lIns="0" tIns="0" rIns="0" bIns="0">
            <a:spAutoFit/>
          </a:bodyPr>
          <a:lstStyle/>
          <a:p>
            <a:pPr algn="l">
              <a:lnSpc>
                <a:spcPct val="100000"/>
              </a:lnSpc>
              <a:spcBef>
                <a:spcPts val="0"/>
              </a:spcBef>
              <a:spcAft>
                <a:spcPts val="0"/>
              </a:spcAft>
            </a:pPr>
            <a:r>
              <a:rPr sz="2400" b="1" i="0">
                <a:solidFill>
                  <a:srgbClr val="1769AA"/>
                </a:solidFill>
                <a:latin typeface="Calibri Light"/>
              </a:rPr>
              <a:t>01</a:t>
            </a:r>
          </a:p>
        </p:txBody>
      </p:sp>
      <p:sp>
        <p:nvSpPr>
          <p:cNvPr id="12" name="TextBox 11"/>
          <p:cNvSpPr txBox="1"/>
          <p:nvPr/>
        </p:nvSpPr>
        <p:spPr>
          <a:xfrm>
            <a:off x="1645920" y="2002536"/>
            <a:ext cx="4023360" cy="292608"/>
          </a:xfrm>
          <a:prstGeom prst="rect">
            <a:avLst/>
          </a:prstGeom>
          <a:noFill/>
        </p:spPr>
        <p:txBody>
          <a:bodyPr wrap="square" anchor="t" lIns="0" tIns="0" rIns="0" bIns="0">
            <a:spAutoFit/>
          </a:bodyPr>
          <a:lstStyle/>
          <a:p>
            <a:pPr algn="l">
              <a:lnSpc>
                <a:spcPct val="100000"/>
              </a:lnSpc>
              <a:spcBef>
                <a:spcPts val="0"/>
              </a:spcBef>
              <a:spcAft>
                <a:spcPts val="0"/>
              </a:spcAft>
            </a:pPr>
            <a:r>
              <a:rPr sz="1400" b="1" i="0">
                <a:solidFill>
                  <a:srgbClr val="0B2C4D"/>
                </a:solidFill>
                <a:latin typeface="Calibri"/>
              </a:rPr>
              <a:t>Schema chuẩn</a:t>
            </a:r>
          </a:p>
        </p:txBody>
      </p:sp>
      <p:sp>
        <p:nvSpPr>
          <p:cNvPr id="13" name="TextBox 12"/>
          <p:cNvSpPr txBox="1"/>
          <p:nvPr/>
        </p:nvSpPr>
        <p:spPr>
          <a:xfrm>
            <a:off x="1645920" y="2386584"/>
            <a:ext cx="4023360" cy="932688"/>
          </a:xfrm>
          <a:prstGeom prst="rect">
            <a:avLst/>
          </a:prstGeom>
          <a:noFill/>
        </p:spPr>
        <p:txBody>
          <a:bodyPr wrap="square" anchor="t" lIns="0" tIns="0" rIns="0" bIns="0">
            <a:spAutoFit/>
          </a:bodyPr>
          <a:lstStyle/>
          <a:p>
            <a:pPr algn="l">
              <a:lnSpc>
                <a:spcPct val="108000"/>
              </a:lnSpc>
              <a:spcBef>
                <a:spcPts val="0"/>
              </a:spcBef>
              <a:spcAft>
                <a:spcPts val="0"/>
              </a:spcAft>
            </a:pPr>
            <a:r>
              <a:rPr sz="1050" b="0" i="0">
                <a:solidFill>
                  <a:srgbClr val="526476"/>
                </a:solidFill>
                <a:latin typeface="Calibri"/>
              </a:rPr>
              <a:t>Ánh xạ từng loại sheet sang bảng huấn luyện với cột chỉ tiêu cố định.</a:t>
            </a:r>
          </a:p>
        </p:txBody>
      </p:sp>
      <p:sp>
        <p:nvSpPr>
          <p:cNvPr id="14" name="Rounded Rectangle 13"/>
          <p:cNvSpPr/>
          <p:nvPr/>
        </p:nvSpPr>
        <p:spPr>
          <a:xfrm>
            <a:off x="6217920" y="1783080"/>
            <a:ext cx="5321808" cy="1700784"/>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217920" y="1783080"/>
            <a:ext cx="68580" cy="1700784"/>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92240" y="1984248"/>
            <a:ext cx="685800" cy="502920"/>
          </a:xfrm>
          <a:prstGeom prst="rect">
            <a:avLst/>
          </a:prstGeom>
          <a:noFill/>
        </p:spPr>
        <p:txBody>
          <a:bodyPr wrap="square" anchor="t" lIns="0" tIns="0" rIns="0" bIns="0">
            <a:spAutoFit/>
          </a:bodyPr>
          <a:lstStyle/>
          <a:p>
            <a:pPr algn="l">
              <a:lnSpc>
                <a:spcPct val="100000"/>
              </a:lnSpc>
              <a:spcBef>
                <a:spcPts val="0"/>
              </a:spcBef>
              <a:spcAft>
                <a:spcPts val="0"/>
              </a:spcAft>
            </a:pPr>
            <a:r>
              <a:rPr sz="2400" b="1" i="0">
                <a:solidFill>
                  <a:srgbClr val="5FA83C"/>
                </a:solidFill>
                <a:latin typeface="Calibri Light"/>
              </a:rPr>
              <a:t>02</a:t>
            </a:r>
          </a:p>
        </p:txBody>
      </p:sp>
      <p:sp>
        <p:nvSpPr>
          <p:cNvPr id="17" name="TextBox 16"/>
          <p:cNvSpPr txBox="1"/>
          <p:nvPr/>
        </p:nvSpPr>
        <p:spPr>
          <a:xfrm>
            <a:off x="7223760" y="2002536"/>
            <a:ext cx="4023360" cy="292608"/>
          </a:xfrm>
          <a:prstGeom prst="rect">
            <a:avLst/>
          </a:prstGeom>
          <a:noFill/>
        </p:spPr>
        <p:txBody>
          <a:bodyPr wrap="square" anchor="t" lIns="0" tIns="0" rIns="0" bIns="0">
            <a:spAutoFit/>
          </a:bodyPr>
          <a:lstStyle/>
          <a:p>
            <a:pPr algn="l">
              <a:lnSpc>
                <a:spcPct val="100000"/>
              </a:lnSpc>
              <a:spcBef>
                <a:spcPts val="0"/>
              </a:spcBef>
              <a:spcAft>
                <a:spcPts val="0"/>
              </a:spcAft>
            </a:pPr>
            <a:r>
              <a:rPr sz="1400" b="1" i="0">
                <a:solidFill>
                  <a:srgbClr val="0B2C4D"/>
                </a:solidFill>
                <a:latin typeface="Calibri"/>
              </a:rPr>
              <a:t>Kiểm soát chất lượng</a:t>
            </a:r>
          </a:p>
        </p:txBody>
      </p:sp>
      <p:sp>
        <p:nvSpPr>
          <p:cNvPr id="18" name="TextBox 17"/>
          <p:cNvSpPr txBox="1"/>
          <p:nvPr/>
        </p:nvSpPr>
        <p:spPr>
          <a:xfrm>
            <a:off x="7223760" y="2386584"/>
            <a:ext cx="4023360" cy="932688"/>
          </a:xfrm>
          <a:prstGeom prst="rect">
            <a:avLst/>
          </a:prstGeom>
          <a:noFill/>
        </p:spPr>
        <p:txBody>
          <a:bodyPr wrap="square" anchor="t" lIns="0" tIns="0" rIns="0" bIns="0">
            <a:spAutoFit/>
          </a:bodyPr>
          <a:lstStyle/>
          <a:p>
            <a:pPr algn="l">
              <a:lnSpc>
                <a:spcPct val="108000"/>
              </a:lnSpc>
              <a:spcBef>
                <a:spcPts val="0"/>
              </a:spcBef>
              <a:spcAft>
                <a:spcPts val="0"/>
              </a:spcAft>
            </a:pPr>
            <a:r>
              <a:rPr sz="1050" b="0" i="0">
                <a:solidFill>
                  <a:srgbClr val="526476"/>
                </a:solidFill>
                <a:latin typeface="Calibri"/>
              </a:rPr>
              <a:t>Kiểm tra khoảng giá trị, đơn vị, phát hiện ngoại lệ và giá trị thiếu.</a:t>
            </a:r>
          </a:p>
        </p:txBody>
      </p:sp>
      <p:sp>
        <p:nvSpPr>
          <p:cNvPr id="19" name="Rounded Rectangle 18"/>
          <p:cNvSpPr/>
          <p:nvPr/>
        </p:nvSpPr>
        <p:spPr>
          <a:xfrm>
            <a:off x="640080" y="3776472"/>
            <a:ext cx="5321808" cy="1700784"/>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 y="3776472"/>
            <a:ext cx="68580" cy="1700784"/>
          </a:xfrm>
          <a:prstGeom prst="roundRect">
            <a:avLst>
              <a:gd name="adj" fmla="val 0"/>
            </a:avLst>
          </a:prstGeom>
          <a:solidFill>
            <a:srgbClr val="E88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3977639"/>
            <a:ext cx="685800" cy="502920"/>
          </a:xfrm>
          <a:prstGeom prst="rect">
            <a:avLst/>
          </a:prstGeom>
          <a:noFill/>
        </p:spPr>
        <p:txBody>
          <a:bodyPr wrap="square" anchor="t" lIns="0" tIns="0" rIns="0" bIns="0">
            <a:spAutoFit/>
          </a:bodyPr>
          <a:lstStyle/>
          <a:p>
            <a:pPr algn="l">
              <a:lnSpc>
                <a:spcPct val="100000"/>
              </a:lnSpc>
              <a:spcBef>
                <a:spcPts val="0"/>
              </a:spcBef>
              <a:spcAft>
                <a:spcPts val="0"/>
              </a:spcAft>
            </a:pPr>
            <a:r>
              <a:rPr sz="2400" b="1" i="0">
                <a:solidFill>
                  <a:srgbClr val="E8891C"/>
                </a:solidFill>
                <a:latin typeface="Calibri Light"/>
              </a:rPr>
              <a:t>03</a:t>
            </a:r>
          </a:p>
        </p:txBody>
      </p:sp>
      <p:sp>
        <p:nvSpPr>
          <p:cNvPr id="22" name="TextBox 21"/>
          <p:cNvSpPr txBox="1"/>
          <p:nvPr/>
        </p:nvSpPr>
        <p:spPr>
          <a:xfrm>
            <a:off x="1645920" y="3995928"/>
            <a:ext cx="4023360" cy="292608"/>
          </a:xfrm>
          <a:prstGeom prst="rect">
            <a:avLst/>
          </a:prstGeom>
          <a:noFill/>
        </p:spPr>
        <p:txBody>
          <a:bodyPr wrap="square" anchor="t" lIns="0" tIns="0" rIns="0" bIns="0">
            <a:spAutoFit/>
          </a:bodyPr>
          <a:lstStyle/>
          <a:p>
            <a:pPr algn="l">
              <a:lnSpc>
                <a:spcPct val="100000"/>
              </a:lnSpc>
              <a:spcBef>
                <a:spcPts val="0"/>
              </a:spcBef>
              <a:spcAft>
                <a:spcPts val="0"/>
              </a:spcAft>
            </a:pPr>
            <a:r>
              <a:rPr sz="1400" b="1" i="0">
                <a:solidFill>
                  <a:srgbClr val="0B2C4D"/>
                </a:solidFill>
                <a:latin typeface="Calibri"/>
              </a:rPr>
              <a:t>Pipeline ML</a:t>
            </a:r>
          </a:p>
        </p:txBody>
      </p:sp>
      <p:sp>
        <p:nvSpPr>
          <p:cNvPr id="23" name="TextBox 22"/>
          <p:cNvSpPr txBox="1"/>
          <p:nvPr/>
        </p:nvSpPr>
        <p:spPr>
          <a:xfrm>
            <a:off x="1645920" y="4379976"/>
            <a:ext cx="4023360" cy="932688"/>
          </a:xfrm>
          <a:prstGeom prst="rect">
            <a:avLst/>
          </a:prstGeom>
          <a:noFill/>
        </p:spPr>
        <p:txBody>
          <a:bodyPr wrap="square" anchor="t" lIns="0" tIns="0" rIns="0" bIns="0">
            <a:spAutoFit/>
          </a:bodyPr>
          <a:lstStyle/>
          <a:p>
            <a:pPr algn="l">
              <a:lnSpc>
                <a:spcPct val="108000"/>
              </a:lnSpc>
              <a:spcBef>
                <a:spcPts val="0"/>
              </a:spcBef>
              <a:spcAft>
                <a:spcPts val="0"/>
              </a:spcAft>
            </a:pPr>
            <a:r>
              <a:rPr sz="1050" b="0" i="0">
                <a:solidFill>
                  <a:srgbClr val="526476"/>
                </a:solidFill>
                <a:latin typeface="Calibri"/>
              </a:rPr>
              <a:t>pandas → scikit-learn / PyTorch; theo dõi phiên bản dữ liệu và kết quả.</a:t>
            </a:r>
          </a:p>
        </p:txBody>
      </p:sp>
      <p:sp>
        <p:nvSpPr>
          <p:cNvPr id="24" name="Rounded Rectangle 23"/>
          <p:cNvSpPr/>
          <p:nvPr/>
        </p:nvSpPr>
        <p:spPr>
          <a:xfrm>
            <a:off x="6217920" y="3776472"/>
            <a:ext cx="5321808" cy="1700784"/>
          </a:xfrm>
          <a:prstGeom prst="roundRect">
            <a:avLst>
              <a:gd name="adj" fmla="val 8000"/>
            </a:avLst>
          </a:prstGeom>
          <a:solidFill>
            <a:srgbClr val="FFFFFF"/>
          </a:solidFill>
          <a:ln w="9525">
            <a:solidFill>
              <a:srgbClr val="D7E3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217920" y="3776472"/>
            <a:ext cx="68580" cy="1700784"/>
          </a:xfrm>
          <a:prstGeom prst="roundRect">
            <a:avLst>
              <a:gd name="adj" fmla="val 0"/>
            </a:avLst>
          </a:prstGeom>
          <a:solidFill>
            <a:srgbClr val="105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92240" y="3977639"/>
            <a:ext cx="685800" cy="502920"/>
          </a:xfrm>
          <a:prstGeom prst="rect">
            <a:avLst/>
          </a:prstGeom>
          <a:noFill/>
        </p:spPr>
        <p:txBody>
          <a:bodyPr wrap="square" anchor="t" lIns="0" tIns="0" rIns="0" bIns="0">
            <a:spAutoFit/>
          </a:bodyPr>
          <a:lstStyle/>
          <a:p>
            <a:pPr algn="l">
              <a:lnSpc>
                <a:spcPct val="100000"/>
              </a:lnSpc>
              <a:spcBef>
                <a:spcPts val="0"/>
              </a:spcBef>
              <a:spcAft>
                <a:spcPts val="0"/>
              </a:spcAft>
            </a:pPr>
            <a:r>
              <a:rPr sz="2400" b="1" i="0">
                <a:solidFill>
                  <a:srgbClr val="10507F"/>
                </a:solidFill>
                <a:latin typeface="Calibri Light"/>
              </a:rPr>
              <a:t>04</a:t>
            </a:r>
          </a:p>
        </p:txBody>
      </p:sp>
      <p:sp>
        <p:nvSpPr>
          <p:cNvPr id="27" name="TextBox 26"/>
          <p:cNvSpPr txBox="1"/>
          <p:nvPr/>
        </p:nvSpPr>
        <p:spPr>
          <a:xfrm>
            <a:off x="7223760" y="3995928"/>
            <a:ext cx="4023360" cy="292608"/>
          </a:xfrm>
          <a:prstGeom prst="rect">
            <a:avLst/>
          </a:prstGeom>
          <a:noFill/>
        </p:spPr>
        <p:txBody>
          <a:bodyPr wrap="square" anchor="t" lIns="0" tIns="0" rIns="0" bIns="0">
            <a:spAutoFit/>
          </a:bodyPr>
          <a:lstStyle/>
          <a:p>
            <a:pPr algn="l">
              <a:lnSpc>
                <a:spcPct val="100000"/>
              </a:lnSpc>
              <a:spcBef>
                <a:spcPts val="0"/>
              </a:spcBef>
              <a:spcAft>
                <a:spcPts val="0"/>
              </a:spcAft>
            </a:pPr>
            <a:r>
              <a:rPr sz="1400" b="1" i="0">
                <a:solidFill>
                  <a:srgbClr val="0B2C4D"/>
                </a:solidFill>
                <a:latin typeface="Calibri"/>
              </a:rPr>
              <a:t>Báo cáo tự động</a:t>
            </a:r>
          </a:p>
        </p:txBody>
      </p:sp>
      <p:sp>
        <p:nvSpPr>
          <p:cNvPr id="28" name="TextBox 27"/>
          <p:cNvSpPr txBox="1"/>
          <p:nvPr/>
        </p:nvSpPr>
        <p:spPr>
          <a:xfrm>
            <a:off x="7223760" y="4379976"/>
            <a:ext cx="4023360" cy="932688"/>
          </a:xfrm>
          <a:prstGeom prst="rect">
            <a:avLst/>
          </a:prstGeom>
          <a:noFill/>
        </p:spPr>
        <p:txBody>
          <a:bodyPr wrap="square" anchor="t" lIns="0" tIns="0" rIns="0" bIns="0">
            <a:spAutoFit/>
          </a:bodyPr>
          <a:lstStyle/>
          <a:p>
            <a:pPr algn="l">
              <a:lnSpc>
                <a:spcPct val="108000"/>
              </a:lnSpc>
              <a:spcBef>
                <a:spcPts val="0"/>
              </a:spcBef>
              <a:spcAft>
                <a:spcPts val="0"/>
              </a:spcAft>
            </a:pPr>
            <a:r>
              <a:rPr sz="1050" b="0" i="0">
                <a:solidFill>
                  <a:srgbClr val="526476"/>
                </a:solidFill>
                <a:latin typeface="Calibri"/>
              </a:rPr>
              <a:t>Xuất log số tệp, tỷ lệ lỗi, metadata phục vụ công bố và tái lập.</a:t>
            </a:r>
          </a:p>
        </p:txBody>
      </p:sp>
      <p:sp>
        <p:nvSpPr>
          <p:cNvPr id="29" name="Rounded Rectangle 28"/>
          <p:cNvSpPr/>
          <p:nvPr/>
        </p:nvSpPr>
        <p:spPr>
          <a:xfrm>
            <a:off x="640080" y="5779008"/>
            <a:ext cx="10927080" cy="502920"/>
          </a:xfrm>
          <a:prstGeom prst="roundRect">
            <a:avLst>
              <a:gd name="adj" fmla="val 12000"/>
            </a:avLst>
          </a:prstGeom>
          <a:solidFill>
            <a:srgbClr val="E8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40080" y="5779008"/>
            <a:ext cx="68580" cy="502920"/>
          </a:xfrm>
          <a:prstGeom prst="roundRect">
            <a:avLst>
              <a:gd name="adj" fmla="val 0"/>
            </a:avLst>
          </a:prstGeom>
          <a:solidFill>
            <a:srgbClr val="176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96112" y="5824728"/>
            <a:ext cx="10515600" cy="411480"/>
          </a:xfrm>
          <a:prstGeom prst="rect">
            <a:avLst/>
          </a:prstGeom>
          <a:noFill/>
        </p:spPr>
        <p:txBody>
          <a:bodyPr wrap="square" anchor="ctr" lIns="0" tIns="0" rIns="0" bIns="0">
            <a:spAutoFit/>
          </a:bodyPr>
          <a:lstStyle/>
          <a:p>
            <a:pPr algn="l">
              <a:lnSpc>
                <a:spcPct val="105000"/>
              </a:lnSpc>
              <a:spcBef>
                <a:spcPts val="0"/>
              </a:spcBef>
              <a:spcAft>
                <a:spcPts val="0"/>
              </a:spcAft>
            </a:pPr>
            <a:r>
              <a:rPr sz="1350" b="1" i="0">
                <a:solidFill>
                  <a:srgbClr val="0B2C4D"/>
                </a:solidFill>
                <a:latin typeface="Calibri"/>
              </a:rPr>
              <a:t>Mục tiêu tiếp theo: chuẩn hóa schema và kiểm soát chất lượng số trước khi huấn luyện mô hình dự báo.</a:t>
            </a:r>
          </a:p>
        </p:txBody>
      </p:sp>
      <p:cxnSp>
        <p:nvCxnSpPr>
          <p:cNvPr id="32" name="Connector 31"/>
          <p:cNvCxnSpPr/>
          <p:nvPr/>
        </p:nvCxnSpPr>
        <p:spPr>
          <a:xfrm>
            <a:off x="566928" y="6473952"/>
            <a:ext cx="11027664" cy="0"/>
          </a:xfrm>
          <a:prstGeom prst="line">
            <a:avLst/>
          </a:prstGeom>
          <a:ln w="9525">
            <a:solidFill>
              <a:srgbClr val="E3EBF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510528"/>
            <a:ext cx="8046720" cy="219456"/>
          </a:xfrm>
          <a:prstGeom prst="rect">
            <a:avLst/>
          </a:prstGeom>
          <a:noFill/>
        </p:spPr>
        <p:txBody>
          <a:bodyPr wrap="square" anchor="t" lIns="0" tIns="0" rIns="0" bIns="0">
            <a:spAutoFit/>
          </a:bodyPr>
          <a:lstStyle/>
          <a:p>
            <a:pPr algn="l">
              <a:lnSpc>
                <a:spcPct val="100000"/>
              </a:lnSpc>
              <a:spcBef>
                <a:spcPts val="0"/>
              </a:spcBef>
              <a:spcAft>
                <a:spcPts val="0"/>
              </a:spcAft>
            </a:pPr>
            <a:r>
              <a:rPr sz="800" b="0" i="0">
                <a:solidFill>
                  <a:srgbClr val="8593A1"/>
                </a:solidFill>
                <a:latin typeface="Calibri"/>
              </a:rPr>
              <a:t>ERSD 2026  ·  Python xử lý dữ liệu chỉ tiêu cơ lý đất</a:t>
            </a:r>
          </a:p>
        </p:txBody>
      </p:sp>
      <p:sp>
        <p:nvSpPr>
          <p:cNvPr id="34" name="TextBox 33"/>
          <p:cNvSpPr txBox="1"/>
          <p:nvPr/>
        </p:nvSpPr>
        <p:spPr>
          <a:xfrm>
            <a:off x="11109960" y="6501384"/>
            <a:ext cx="502920" cy="219456"/>
          </a:xfrm>
          <a:prstGeom prst="rect">
            <a:avLst/>
          </a:prstGeom>
          <a:noFill/>
        </p:spPr>
        <p:txBody>
          <a:bodyPr wrap="square" anchor="t" lIns="0" tIns="0" rIns="0" bIns="0">
            <a:spAutoFit/>
          </a:bodyPr>
          <a:lstStyle/>
          <a:p>
            <a:pPr algn="r">
              <a:lnSpc>
                <a:spcPct val="100000"/>
              </a:lnSpc>
              <a:spcBef>
                <a:spcPts val="0"/>
              </a:spcBef>
              <a:spcAft>
                <a:spcPts val="0"/>
              </a:spcAft>
            </a:pPr>
            <a:r>
              <a:rPr sz="900" b="1" i="0">
                <a:solidFill>
                  <a:srgbClr val="1769AA"/>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background.png"/>
          <p:cNvPicPr>
            <a:picLocks noChangeAspect="1"/>
          </p:cNvPicPr>
          <p:nvPr/>
        </p:nvPicPr>
        <p:blipFill>
          <a:blip r:embed="rId2"/>
          <a:stretch>
            <a:fillRect/>
          </a:stretch>
        </p:blipFill>
        <p:spPr>
          <a:xfrm>
            <a:off x="0" y="0"/>
            <a:ext cx="12191695" cy="6858000"/>
          </a:xfrm>
          <a:prstGeom prst="rect">
            <a:avLst/>
          </a:prstGeom>
        </p:spPr>
      </p:pic>
      <p:pic>
        <p:nvPicPr>
          <p:cNvPr id="4" name="Picture 3" descr="ersd_logo.png"/>
          <p:cNvPicPr>
            <a:picLocks noChangeAspect="1"/>
          </p:cNvPicPr>
          <p:nvPr/>
        </p:nvPicPr>
        <p:blipFill>
          <a:blip r:embed="rId3"/>
          <a:srcRect l="5385" t="11182" r="9023" b="13175"/>
          <a:stretch>
            <a:fillRect/>
          </a:stretch>
        </p:blipFill>
        <p:spPr>
          <a:xfrm>
            <a:off x="416966" y="314553"/>
            <a:ext cx="1682496" cy="1106424"/>
          </a:xfrm>
          <a:prstGeom prst="rect">
            <a:avLst/>
          </a:prstGeom>
          <a:effectLst/>
        </p:spPr>
      </p:pic>
      <p:sp>
        <p:nvSpPr>
          <p:cNvPr id="5" name="Rounded Rectangle 4"/>
          <p:cNvSpPr/>
          <p:nvPr/>
        </p:nvSpPr>
        <p:spPr>
          <a:xfrm>
            <a:off x="777240" y="1536192"/>
            <a:ext cx="10652760" cy="3246120"/>
          </a:xfrm>
          <a:prstGeom prst="roundRect">
            <a:avLst>
              <a:gd name="adj" fmla="val 6000"/>
            </a:avLst>
          </a:prstGeom>
          <a:solidFill>
            <a:srgbClr val="FFFFFF">
              <a:alpha val="94000"/>
            </a:srgbClr>
          </a:solidFill>
          <a:ln w="12700">
            <a:solidFill>
              <a:srgbClr val="E4ED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777240" y="1536192"/>
            <a:ext cx="100584" cy="3246120"/>
          </a:xfrm>
          <a:prstGeom prst="roundRect">
            <a:avLst>
              <a:gd name="adj" fmla="val 0"/>
            </a:avLst>
          </a:prstGeom>
          <a:solidFill>
            <a:srgbClr val="5FA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itle 1"/>
          <p:cNvSpPr>
            <a:spLocks noGrp="1"/>
          </p:cNvSpPr>
          <p:nvPr>
            <p:ph type="title"/>
          </p:nvPr>
        </p:nvSpPr>
        <p:spPr>
          <a:xfrm>
            <a:off x="1115568" y="2212848"/>
            <a:ext cx="8961120" cy="960120"/>
          </a:xfrm>
        </p:spPr>
        <p:txBody>
          <a:bodyPr wrap="square" lIns="0" rIns="0" tIns="0" bIns="0" anchor="t"/>
          <a:lstStyle/>
          <a:p>
            <a:pPr algn="l"/>
            <a:r>
              <a:rPr sz="5200" b="1">
                <a:solidFill>
                  <a:srgbClr val="0B2C4D"/>
                </a:solidFill>
                <a:latin typeface="Calibri Light"/>
              </a:rPr>
              <a:t>Xin cảm ơn!</a:t>
            </a:r>
          </a:p>
        </p:txBody>
      </p:sp>
      <p:sp>
        <p:nvSpPr>
          <p:cNvPr id="7" name="TextBox 6"/>
          <p:cNvSpPr txBox="1"/>
          <p:nvPr/>
        </p:nvSpPr>
        <p:spPr>
          <a:xfrm>
            <a:off x="1115568" y="1828800"/>
            <a:ext cx="8229600" cy="310896"/>
          </a:xfrm>
          <a:prstGeom prst="rect">
            <a:avLst/>
          </a:prstGeom>
          <a:noFill/>
        </p:spPr>
        <p:txBody>
          <a:bodyPr wrap="square" anchor="t" lIns="0" tIns="0" rIns="0" bIns="0">
            <a:spAutoFit/>
          </a:bodyPr>
          <a:lstStyle/>
          <a:p>
            <a:pPr algn="l">
              <a:lnSpc>
                <a:spcPct val="100000"/>
              </a:lnSpc>
              <a:spcBef>
                <a:spcPts val="0"/>
              </a:spcBef>
              <a:spcAft>
                <a:spcPts val="0"/>
              </a:spcAft>
            </a:pPr>
            <a:r>
              <a:rPr sz="1100" b="1" i="0" spc="100">
                <a:solidFill>
                  <a:srgbClr val="1769AA"/>
                </a:solidFill>
                <a:latin typeface="Calibri"/>
              </a:rPr>
              <a:t>ERSD 2026  ·  PHIÊN THẢO LUẬN</a:t>
            </a:r>
          </a:p>
        </p:txBody>
      </p:sp>
      <p:sp>
        <p:nvSpPr>
          <p:cNvPr id="8" name="TextBox 7"/>
          <p:cNvSpPr txBox="1"/>
          <p:nvPr/>
        </p:nvSpPr>
        <p:spPr>
          <a:xfrm>
            <a:off x="1115568" y="3145536"/>
            <a:ext cx="9144000" cy="566928"/>
          </a:xfrm>
          <a:prstGeom prst="rect">
            <a:avLst/>
          </a:prstGeom>
          <a:noFill/>
        </p:spPr>
        <p:txBody>
          <a:bodyPr wrap="square" anchor="t" lIns="0" tIns="0" rIns="0" bIns="0">
            <a:spAutoFit/>
          </a:bodyPr>
          <a:lstStyle/>
          <a:p>
            <a:pPr algn="l">
              <a:lnSpc>
                <a:spcPct val="100000"/>
              </a:lnSpc>
              <a:spcBef>
                <a:spcPts val="0"/>
              </a:spcBef>
              <a:spcAft>
                <a:spcPts val="0"/>
              </a:spcAft>
            </a:pPr>
            <a:r>
              <a:rPr sz="1500" b="0" i="0">
                <a:solidFill>
                  <a:srgbClr val="526476"/>
                </a:solidFill>
                <a:latin typeface="Calibri"/>
              </a:rPr>
              <a:t>Rất mong nhận được câu hỏi và góp ý của quý thầy cô, các đại biểu.</a:t>
            </a:r>
          </a:p>
        </p:txBody>
      </p:sp>
      <p:sp>
        <p:nvSpPr>
          <p:cNvPr id="9" name="TextBox 8"/>
          <p:cNvSpPr txBox="1"/>
          <p:nvPr/>
        </p:nvSpPr>
        <p:spPr>
          <a:xfrm>
            <a:off x="1115568" y="4005072"/>
            <a:ext cx="9144000" cy="384048"/>
          </a:xfrm>
          <a:prstGeom prst="rect">
            <a:avLst/>
          </a:prstGeom>
          <a:noFill/>
        </p:spPr>
        <p:txBody>
          <a:bodyPr wrap="square" anchor="t" lIns="0" tIns="0" rIns="0" bIns="0">
            <a:spAutoFit/>
          </a:bodyPr>
          <a:lstStyle/>
          <a:p>
            <a:pPr algn="l">
              <a:lnSpc>
                <a:spcPct val="100000"/>
              </a:lnSpc>
              <a:spcBef>
                <a:spcPts val="0"/>
              </a:spcBef>
              <a:spcAft>
                <a:spcPts val="0"/>
              </a:spcAft>
            </a:pPr>
            <a:r>
              <a:rPr sz="1200" b="1" i="0">
                <a:solidFill>
                  <a:srgbClr val="1769AA"/>
                </a:solidFill>
                <a:latin typeface="Calibri"/>
              </a:rPr>
              <a:t>Ngô Thị Phương Thảo  ·  Trường Đại học Mỏ – Địa chất</a:t>
            </a:r>
          </a:p>
        </p:txBody>
      </p:sp>
      <p:sp>
        <p:nvSpPr>
          <p:cNvPr id="10" name="TextBox 9"/>
          <p:cNvSpPr txBox="1"/>
          <p:nvPr/>
        </p:nvSpPr>
        <p:spPr>
          <a:xfrm>
            <a:off x="1115568" y="4389120"/>
            <a:ext cx="9144000" cy="310896"/>
          </a:xfrm>
          <a:prstGeom prst="rect">
            <a:avLst/>
          </a:prstGeom>
          <a:noFill/>
        </p:spPr>
        <p:txBody>
          <a:bodyPr wrap="square" anchor="t" lIns="0" tIns="0" rIns="0" bIns="0">
            <a:spAutoFit/>
          </a:bodyPr>
          <a:lstStyle/>
          <a:p>
            <a:pPr algn="l">
              <a:lnSpc>
                <a:spcPct val="100000"/>
              </a:lnSpc>
              <a:spcBef>
                <a:spcPts val="0"/>
              </a:spcBef>
              <a:spcAft>
                <a:spcPts val="0"/>
              </a:spcAft>
            </a:pPr>
            <a:r>
              <a:rPr sz="1000" b="0" i="1">
                <a:solidFill>
                  <a:srgbClr val="8593A1"/>
                </a:solidFill>
                <a:latin typeface="Calibri"/>
              </a:rPr>
              <a:t>Sử dụng Python xử lý dữ liệu chỉ tiêu cơ lý đất để chuẩn bị dữ liệu huấn luyện AI</a:t>
            </a:r>
          </a:p>
        </p:txBody>
      </p:sp>
      <p:sp>
        <p:nvSpPr>
          <p:cNvPr id="11" name="TextBox 10"/>
          <p:cNvSpPr txBox="1"/>
          <p:nvPr/>
        </p:nvSpPr>
        <p:spPr>
          <a:xfrm>
            <a:off x="822960" y="5138928"/>
            <a:ext cx="10607040" cy="365760"/>
          </a:xfrm>
          <a:prstGeom prst="rect">
            <a:avLst/>
          </a:prstGeom>
          <a:noFill/>
        </p:spPr>
        <p:txBody>
          <a:bodyPr wrap="square" anchor="t" lIns="0" tIns="0" rIns="0" bIns="0">
            <a:spAutoFit/>
          </a:bodyPr>
          <a:lstStyle/>
          <a:p>
            <a:pPr algn="ctr">
              <a:lnSpc>
                <a:spcPct val="100000"/>
              </a:lnSpc>
              <a:spcBef>
                <a:spcPts val="0"/>
              </a:spcBef>
              <a:spcAft>
                <a:spcPts val="0"/>
              </a:spcAft>
            </a:pPr>
            <a:r>
              <a:rPr sz="1800" b="1" i="0">
                <a:solidFill>
                  <a:srgbClr val="5FA83C"/>
                </a:solidFill>
                <a:latin typeface="Calibri"/>
              </a:rPr>
              <a:t>166</a:t>
            </a:r>
            <a:r>
              <a:rPr sz="1050" b="0" i="0">
                <a:solidFill>
                  <a:srgbClr val="526476"/>
                </a:solidFill>
                <a:latin typeface="Calibri"/>
              </a:rPr>
              <a:t> tệp    </a:t>
            </a:r>
            <a:r>
              <a:rPr sz="1800" b="1" i="0">
                <a:solidFill>
                  <a:srgbClr val="1769AA"/>
                </a:solidFill>
                <a:latin typeface="Calibri"/>
              </a:rPr>
              <a:t>963</a:t>
            </a:r>
            <a:r>
              <a:rPr sz="1050" b="0" i="0">
                <a:solidFill>
                  <a:srgbClr val="526476"/>
                </a:solidFill>
                <a:latin typeface="Calibri"/>
              </a:rPr>
              <a:t> sheet    </a:t>
            </a:r>
            <a:r>
              <a:rPr sz="1800" b="1" i="0">
                <a:solidFill>
                  <a:srgbClr val="E8891C"/>
                </a:solidFill>
                <a:latin typeface="Calibri"/>
              </a:rPr>
              <a:t>20.532</a:t>
            </a:r>
            <a:r>
              <a:rPr sz="1050" b="0" i="0">
                <a:solidFill>
                  <a:srgbClr val="526476"/>
                </a:solidFill>
                <a:latin typeface="Calibri"/>
              </a:rPr>
              <a:t> mẫu hợp lệ</a:t>
            </a:r>
          </a:p>
        </p:txBody>
      </p:sp>
      <p:sp>
        <p:nvSpPr>
          <p:cNvPr id="12" name="TextBox 11"/>
          <p:cNvSpPr txBox="1"/>
          <p:nvPr/>
        </p:nvSpPr>
        <p:spPr>
          <a:xfrm>
            <a:off x="822960" y="5760720"/>
            <a:ext cx="10607040" cy="310896"/>
          </a:xfrm>
          <a:prstGeom prst="rect">
            <a:avLst/>
          </a:prstGeom>
          <a:noFill/>
        </p:spPr>
        <p:txBody>
          <a:bodyPr wrap="square" anchor="t" lIns="0" tIns="0" rIns="0" bIns="0">
            <a:spAutoFit/>
          </a:bodyPr>
          <a:lstStyle/>
          <a:p>
            <a:pPr algn="ctr">
              <a:lnSpc>
                <a:spcPct val="100000"/>
              </a:lnSpc>
              <a:spcBef>
                <a:spcPts val="0"/>
              </a:spcBef>
              <a:spcAft>
                <a:spcPts val="0"/>
              </a:spcAft>
            </a:pPr>
            <a:r>
              <a:rPr sz="1000" b="0" i="0">
                <a:solidFill>
                  <a:srgbClr val="8593A1"/>
                </a:solidFill>
                <a:latin typeface="Calibri"/>
              </a:rPr>
              <a:t>ERSD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HOẠ MY</dc:creator>
  <cp:lastModifiedBy>Phong Khoa hoc Cong nghe</cp:lastModifiedBy>
  <cp:revision>7</cp:revision>
  <dcterms:created xsi:type="dcterms:W3CDTF">2023-11-21T03:01:57Z</dcterms:created>
  <dcterms:modified xsi:type="dcterms:W3CDTF">2026-10-18T18:56:09Z</dcterms:modified>
</cp:coreProperties>
</file>